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12192000"/>
  <p:custDataLst>
    <p:tags r:id="rId32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gs" Target="tags/tag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9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2188"/>
            <a:ext cx="113155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5F3EF">
                    <a:alpha val="45000"/>
                  </a:srgbClr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39475" y="122188"/>
            <a:ext cx="50201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5F3EF">
                    <a:alpha val="45000"/>
                  </a:srgbClr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项目报告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2013793"/>
            <a:ext cx="1005250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F5F3EF">
                    <a:alpha val="55000"/>
                  </a:srgbClr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智能体开发专项赛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2347168"/>
            <a:ext cx="10052506" cy="700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20"/>
              </a:lnSpc>
              <a:spcAft>
                <a:spcPts val="1800"/>
              </a:spcAft>
              <a:buNone/>
            </a:pPr>
            <a:r>
              <a:rPr lang="en-US" sz="4600" dirty="0">
                <a:solidFill>
                  <a:srgbClr val="F5F3EF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60350" y="3276749"/>
            <a:ext cx="6736029" cy="7125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5"/>
              </a:lnSpc>
              <a:buNone/>
            </a:pPr>
            <a:r>
              <a:rPr lang="en-US" sz="1700" dirty="0">
                <a:solidFill>
                  <a:srgbClr val="F5F3EF">
                    <a:alpha val="75000"/>
                  </a:srgbClr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一套将标准竞技辩论赛制与多智能体工作流深度融合的系统</a:t>
            </a:r>
            <a:br>
              <a:rPr lang="en-US" sz="1700" dirty="0">
                <a:solidFill>
                  <a:srgbClr val="F5F3EF">
                    <a:alpha val="75000"/>
                  </a:srgbClr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</a:br>
            <a:r>
              <a:rPr lang="en-US" sz="1700" dirty="0">
                <a:solidFill>
                  <a:srgbClr val="F5F3EF">
                    <a:alpha val="75000"/>
                  </a:srgbClr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让思辨训练可被观测、论据可被验证、过程可被复盘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0350" y="4344888"/>
            <a:ext cx="609600" cy="19050"/>
          </a:xfrm>
          <a:prstGeom prst="rect">
            <a:avLst/>
          </a:prstGeom>
          <a:solidFill>
            <a:srgbClr val="D9775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4719489"/>
            <a:ext cx="10052506" cy="25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100" dirty="0">
                <a:solidFill>
                  <a:srgbClr val="F5F3EF">
                    <a:alpha val="45000"/>
                  </a:srgbClr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学校：</a:t>
            </a:r>
            <a:r>
              <a:rPr lang="zh-CN" altLang="en-US" sz="1100" dirty="0">
                <a:solidFill>
                  <a:srgbClr val="F5F3EF">
                    <a:alpha val="45000"/>
                  </a:srgbClr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江门市第一中学</a:t>
            </a:r>
            <a:r>
              <a:rPr lang="en-US" sz="1100" dirty="0">
                <a:solidFill>
                  <a:srgbClr val="F5F3EF">
                    <a:alpha val="45000"/>
                  </a:srgbClr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 |  选手：</a:t>
            </a:r>
            <a:r>
              <a:rPr lang="zh-CN" altLang="en-US" sz="1100" dirty="0">
                <a:solidFill>
                  <a:srgbClr val="F5F3EF">
                    <a:alpha val="45000"/>
                  </a:srgbClr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林湘岩、湛昊轩、梁志聪</a:t>
            </a:r>
            <a:r>
              <a:rPr lang="en-US" sz="1100" dirty="0">
                <a:solidFill>
                  <a:srgbClr val="F5F3EF">
                    <a:alpha val="45000"/>
                  </a:srgbClr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 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400" y="6626225"/>
            <a:ext cx="489585" cy="168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5F3EF">
                    <a:alpha val="35000"/>
                  </a:srgbClr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2188"/>
            <a:ext cx="113155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341322" y="122188"/>
            <a:ext cx="121413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 · 项目报告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1108872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CONTENTS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901601"/>
            <a:ext cx="11088725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spcAft>
                <a:spcPts val="2400"/>
              </a:spcAft>
              <a:buNone/>
            </a:pPr>
            <a:r>
              <a:rPr lang="en-US" sz="30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本报告结构</a:t>
            </a:r>
            <a:endParaRPr lang="en-US" sz="3000" dirty="0"/>
          </a:p>
        </p:txBody>
      </p:sp>
      <p:grpSp>
        <p:nvGrpSpPr>
          <p:cNvPr id="13" name="组合 12"/>
          <p:cNvGrpSpPr/>
          <p:nvPr/>
        </p:nvGrpSpPr>
        <p:grpSpPr>
          <a:xfrm>
            <a:off x="660400" y="1673225"/>
            <a:ext cx="11176635" cy="3418840"/>
            <a:chOff x="1040" y="2620"/>
            <a:chExt cx="17284" cy="3361"/>
          </a:xfrm>
        </p:grpSpPr>
        <p:sp>
          <p:nvSpPr>
            <p:cNvPr id="7" name="Text 5"/>
            <p:cNvSpPr/>
            <p:nvPr/>
          </p:nvSpPr>
          <p:spPr>
            <a:xfrm>
              <a:off x="1040" y="2620"/>
              <a:ext cx="8364" cy="96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5"/>
                </a:lnSpc>
                <a:spcAft>
                  <a:spcPts val="1000"/>
                </a:spcAft>
                <a:buNone/>
              </a:pPr>
              <a:r>
                <a:rPr lang="en-US" sz="1350" b="1" dirty="0">
                  <a:solidFill>
                    <a:srgbClr val="D97757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第一幕 · 为什么做</a:t>
              </a:r>
              <a:endParaRPr lang="en-US" sz="1350" dirty="0"/>
            </a:p>
            <a:p>
              <a:pPr marL="0" indent="0" algn="l">
                <a:lnSpc>
                  <a:spcPts val="2405"/>
                </a:lnSpc>
                <a:spcAft>
                  <a:spcPts val="1000"/>
                </a:spcAft>
                <a:buNone/>
              </a:pPr>
              <a:r>
                <a:rPr lang="en-US" sz="135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项目缘起、问题定义、初始产品方向</a:t>
              </a:r>
              <a:endParaRPr lang="en-US" sz="13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040" y="4879"/>
              <a:ext cx="8364" cy="96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5"/>
                </a:lnSpc>
                <a:spcAft>
                  <a:spcPts val="1000"/>
                </a:spcAft>
                <a:buNone/>
              </a:pPr>
              <a:r>
                <a:rPr lang="en-US" sz="1350" b="1" dirty="0">
                  <a:solidFill>
                    <a:srgbClr val="D97757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第二幕 · 做了什么</a:t>
              </a:r>
              <a:endParaRPr lang="en-US" sz="1350" dirty="0"/>
            </a:p>
            <a:p>
              <a:pPr marL="0" indent="0" algn="l">
                <a:lnSpc>
                  <a:spcPts val="2405"/>
                </a:lnSpc>
                <a:spcAft>
                  <a:spcPts val="1000"/>
                </a:spcAft>
                <a:buNone/>
              </a:pPr>
              <a:r>
                <a:rPr lang="en-US" sz="135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产品概览、系统架构、多智能体、工作流与防幻觉、人机协同</a:t>
              </a:r>
              <a:endParaRPr lang="en-US" sz="13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9960" y="2620"/>
              <a:ext cx="8364" cy="96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5"/>
                </a:lnSpc>
                <a:spcAft>
                  <a:spcPts val="1000"/>
                </a:spcAft>
                <a:buNone/>
              </a:pPr>
              <a:r>
                <a:rPr lang="en-US" sz="1350" b="1" dirty="0">
                  <a:solidFill>
                    <a:srgbClr val="D97757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第三幕 · 怎么做的</a:t>
              </a:r>
              <a:endParaRPr lang="en-US" sz="1350" dirty="0"/>
            </a:p>
            <a:p>
              <a:pPr marL="0" indent="0" algn="l">
                <a:lnSpc>
                  <a:spcPts val="2405"/>
                </a:lnSpc>
                <a:spcAft>
                  <a:spcPts val="1000"/>
                </a:spcAft>
                <a:buNone/>
              </a:pPr>
              <a:r>
                <a:rPr lang="en-US" sz="135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开发历程、三阶段工程推进、</a:t>
              </a:r>
              <a:endParaRPr lang="en-US" sz="1350" dirty="0"/>
            </a:p>
            <a:p>
              <a:pPr marL="0" indent="0" algn="l">
                <a:lnSpc>
                  <a:spcPts val="2405"/>
                </a:lnSpc>
                <a:spcAft>
                  <a:spcPts val="1000"/>
                </a:spcAft>
                <a:buNone/>
              </a:pPr>
              <a:r>
                <a:rPr lang="en-US" sz="1350" i="1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中后期的辩论社交流</a:t>
              </a:r>
              <a:r>
                <a:rPr lang="en-US" sz="135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、难点与测试</a:t>
              </a:r>
              <a:endParaRPr lang="en-US" sz="13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9960" y="5021"/>
              <a:ext cx="8364" cy="96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5"/>
                </a:lnSpc>
                <a:buNone/>
              </a:pPr>
              <a:r>
                <a:rPr lang="en-US" sz="1350" b="1" dirty="0">
                  <a:solidFill>
                    <a:srgbClr val="D97757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第四幕 · 成果与展望</a:t>
              </a:r>
              <a:endParaRPr lang="en-US" sz="1350" dirty="0"/>
            </a:p>
            <a:p>
              <a:pPr marL="0" indent="0" algn="l">
                <a:lnSpc>
                  <a:spcPts val="2405"/>
                </a:lnSpc>
                <a:buNone/>
              </a:pPr>
              <a:r>
                <a:rPr lang="en-US" sz="135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访谈驱动的迭代、能力总览、反思与后续方向</a:t>
              </a:r>
              <a:endParaRPr lang="en-US" sz="1350" dirty="0"/>
            </a:p>
          </p:txBody>
        </p:sp>
      </p:grpSp>
      <p:sp>
        <p:nvSpPr>
          <p:cNvPr id="11" name="Shape 9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400" y="6626225"/>
            <a:ext cx="76517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2188"/>
            <a:ext cx="113155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8719" y="122188"/>
            <a:ext cx="108418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第一幕 · 为什么做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1108872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项目缘起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901601"/>
            <a:ext cx="11088725" cy="426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Aft>
                <a:spcPts val="1600"/>
              </a:spcAft>
              <a:buNone/>
            </a:pPr>
            <a:r>
              <a:rPr lang="en-US" sz="28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从一场对话，到一套赛制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60350" y="1531293"/>
            <a:ext cx="11088725" cy="61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5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    大模型对话产品已经十分普及，但绝大多数仍停留在「你问我答」的线性交互上。对于需要</a:t>
            </a:r>
            <a:r>
              <a:rPr lang="en-US" sz="1350" b="1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结构化思辨、多轮攻防、可验证论据</a:t>
            </a: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的辩论训练场景，简单的聊天界面既无法还原正式辩论赛的节奏，也难以让使用者判断 AI 发言是否站得住脚。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0350" y="2268438"/>
            <a:ext cx="11088725" cy="91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5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    我们选择辩论作为切入点，并非因为这是一个热门题材，而是因为辩论本身就是一种被验证过的思维训练方法：它要求参与者在有限时间内组织论点、回应反驳、引用可核查的事实，并在裁判框架下接受评判。将这些要求映射到 AI 智能体系统上，天然需要</a:t>
            </a:r>
            <a:r>
              <a:rPr lang="en-US" sz="1350" b="1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工作流编排、多角色协同、输出校验</a:t>
            </a: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——这正是 AI 智能体开发专项赛所倡导的工程范式。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0350" y="3310682"/>
            <a:ext cx="11088725" cy="3050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5"/>
              </a:lnSpc>
              <a:buNone/>
            </a:pP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AI辩论场的目标，是成为一套可以真正用于课堂思辨训练、赛事备赛演练和智能体能力展示的完整系统，而非又一个通用聊天 Demo。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400" y="6626225"/>
            <a:ext cx="556260" cy="1974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2188"/>
            <a:ext cx="113155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8719" y="122188"/>
            <a:ext cx="108418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第一幕 · 问题定义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1108872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问题定义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901601"/>
            <a:ext cx="11088725" cy="396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Aft>
                <a:spcPts val="1400"/>
              </a:spcAft>
              <a:buNone/>
            </a:pPr>
            <a:r>
              <a:rPr lang="en-US" sz="26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我们要解决的三件事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60350" y="1475482"/>
            <a:ext cx="355550" cy="355550"/>
          </a:xfrm>
          <a:prstGeom prst="roundRect">
            <a:avLst>
              <a:gd name="adj" fmla="val 28576"/>
            </a:avLst>
          </a:prstGeom>
          <a:solidFill>
            <a:srgbClr val="D97757">
              <a:alpha val="10000"/>
            </a:srgbClr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2906028"/>
            <a:ext cx="355550" cy="355550"/>
          </a:xfrm>
          <a:prstGeom prst="roundRect">
            <a:avLst>
              <a:gd name="adj" fmla="val 28576"/>
            </a:avLst>
          </a:prstGeom>
          <a:solidFill>
            <a:srgbClr val="D97757">
              <a:alpha val="10000"/>
            </a:srgbClr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0350" y="3917484"/>
            <a:ext cx="355550" cy="355550"/>
          </a:xfrm>
          <a:prstGeom prst="roundRect">
            <a:avLst>
              <a:gd name="adj" fmla="val 28576"/>
            </a:avLst>
          </a:prstGeom>
          <a:solidFill>
            <a:srgbClr val="D97757">
              <a:alpha val="10000"/>
            </a:srgbClr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168400" y="1475740"/>
            <a:ext cx="10570210" cy="3629025"/>
            <a:chOff x="1840" y="2324"/>
            <a:chExt cx="16646" cy="2747"/>
          </a:xfrm>
        </p:grpSpPr>
        <p:sp>
          <p:nvSpPr>
            <p:cNvPr id="8" name="Text 6"/>
            <p:cNvSpPr/>
            <p:nvPr/>
          </p:nvSpPr>
          <p:spPr>
            <a:xfrm>
              <a:off x="1840" y="2324"/>
              <a:ext cx="16647" cy="89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35"/>
                </a:lnSpc>
                <a:buNone/>
              </a:pPr>
              <a:r>
                <a:rPr lang="en-US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结构化赛制缺失</a:t>
              </a:r>
              <a:r>
                <a:rPr lang="en-US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 — 现有 AI 产品大多以单轮问答或自由对话为主，缺乏立论、驳论、质询、自由辩论、总结陈词等正式环节的状态切换与限时约束。</a:t>
              </a:r>
              <a:endParaRPr lang="en-US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840" y="3417"/>
              <a:ext cx="15895" cy="44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35"/>
                </a:lnSpc>
                <a:buNone/>
              </a:pPr>
              <a:r>
                <a:rPr lang="en-US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论据不可验证</a:t>
              </a:r>
              <a:r>
                <a:rPr lang="en-US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 — 大模型倾向于生成看似权威但无法溯源的表述——「研究表明」「数据显示」背后往往没有真实来源，会严重误导训练。</a:t>
              </a:r>
              <a:endParaRPr lang="en-US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840" y="4177"/>
              <a:ext cx="16647" cy="89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35"/>
                </a:lnSpc>
                <a:buNone/>
              </a:pPr>
              <a:r>
                <a:rPr lang="en-US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多智能体过程不可观测</a:t>
              </a:r>
              <a:r>
                <a:rPr lang="en-US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 — 策略规划、队内讨论、事实核查等内部步骤通常对用户不可见，评委和开发者无法判断系统是否真正在执行智能决策。</a:t>
              </a:r>
              <a:endParaRPr lang="en-US" dirty="0"/>
            </a:p>
          </p:txBody>
        </p:sp>
      </p:grpSp>
      <p:sp>
        <p:nvSpPr>
          <p:cNvPr id="13" name="Shape 11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400" y="6626225"/>
            <a:ext cx="689610" cy="76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2188"/>
            <a:ext cx="113155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8719" y="122188"/>
            <a:ext cx="108418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第一幕 · 方向确立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1108872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方向确立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901601"/>
            <a:ext cx="11088725" cy="396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Aft>
                <a:spcPts val="1200"/>
              </a:spcAft>
              <a:buNone/>
            </a:pPr>
            <a:r>
              <a:rPr lang="en-US" sz="26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先搭系统，再用真实用户校准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60350" y="1450181"/>
            <a:ext cx="11088725" cy="61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5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项目早期，我们根据赛制规范与智能体工程经验，先确立三个产品方向：</a:t>
            </a:r>
            <a:r>
              <a:rPr lang="en-US" sz="1350" b="1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还原标准 4v4 赛制流程</a:t>
            </a: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、</a:t>
            </a:r>
            <a:r>
              <a:rPr lang="en-US" sz="1350" b="1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建立可验证的论据体系</a:t>
            </a: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、</a:t>
            </a:r>
            <a:r>
              <a:rPr lang="en-US" sz="1350" b="1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支持人机协同而非替代人类思考</a:t>
            </a: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。这一阶段以文献调研、赛制拆解和技术原型验证为主，尚未与辩论社同学进行深度交流。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0350" y="2187327"/>
            <a:ext cx="11088725" cy="61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5"/>
              </a:lnSpc>
              <a:buNone/>
            </a:pP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随着工作流与赛制引擎逐步跑通，系统进入工程化阶段后，我们带着可演示的版本走进辩论社，请真实辩手体验、批评、追问——他们的反馈成为后续迭代最直接的输入（详见第三幕后段）。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0350" y="2848273"/>
            <a:ext cx="10871299" cy="914400"/>
          </a:xfrm>
          <a:prstGeom prst="roundRect">
            <a:avLst>
              <a:gd name="adj" fmla="val 22222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7576" y="2984748"/>
            <a:ext cx="10706785" cy="269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25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早期假设记录（可选填写 80–150 字）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7576" y="3330773"/>
            <a:ext cx="10706785" cy="2165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5"/>
              </a:lnSpc>
              <a:buNone/>
            </a:pPr>
            <a:r>
              <a:rPr lang="en-US" sz="11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【例如：我们最初假设辩手最需要的是「AI 代写完整发言」；后续访谈证明这一假设并不成立。】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400" y="6626225"/>
            <a:ext cx="1139190" cy="10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6950"/>
            <a:ext cx="118893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12164" y="126950"/>
            <a:ext cx="114187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第二幕 · 系统与能力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5899282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产品概览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901601"/>
            <a:ext cx="5899282" cy="3656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一套完整的辩论智能体系统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0400" y="1394460"/>
            <a:ext cx="6092825" cy="12204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5"/>
              </a:lnSpc>
              <a:buNone/>
            </a:pP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AI辩论场由 FastAPI 后端、React 前端和 LangGraph 工作流引擎构成，支持全 AI 对辩、人机混合、联机多人同房间三种模式。三栏布局分别承载赛程控制、角色舞台与发言流、AI 教练建议；</a:t>
            </a:r>
            <a:r>
              <a:rPr lang="zh-CN" alt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侧栏可展开</a:t>
            </a: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工作流脑图实时高亮当前节点。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400" y="6631305"/>
            <a:ext cx="927735" cy="857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6465" y="749300"/>
            <a:ext cx="4857750" cy="319087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0" y="2368550"/>
            <a:ext cx="6949440" cy="392112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679055" y="4424045"/>
            <a:ext cx="2568575" cy="1324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ts val="2405"/>
              </a:lnSpc>
              <a:buClrTx/>
              <a:buSzTx/>
              <a:buFontTx/>
            </a:pPr>
            <a:r>
              <a:rPr lang="en-US" sz="360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辩题设置↑</a:t>
            </a:r>
            <a:endParaRPr lang="en-US" sz="3600" dirty="0">
              <a:solidFill>
                <a:srgbClr val="3D3D3A"/>
              </a:solidFill>
              <a:latin typeface="方正大标宋_GBK" panose="03000509000000000000" charset="-122"/>
              <a:ea typeface="方正大标宋_GBK" panose="03000509000000000000" charset="-122"/>
              <a:cs typeface="方正大标宋_GBK" panose="03000509000000000000" charset="-122"/>
            </a:endParaRPr>
          </a:p>
          <a:p>
            <a:pPr algn="l">
              <a:lnSpc>
                <a:spcPts val="2405"/>
              </a:lnSpc>
              <a:buClrTx/>
              <a:buSzTx/>
              <a:buFontTx/>
            </a:pPr>
            <a:endParaRPr lang="en-US" sz="3600" dirty="0">
              <a:solidFill>
                <a:srgbClr val="3D3D3A"/>
              </a:solidFill>
              <a:latin typeface="方正大标宋_GBK" panose="03000509000000000000" charset="-122"/>
              <a:ea typeface="方正大标宋_GBK" panose="03000509000000000000" charset="-122"/>
              <a:cs typeface="方正大标宋_GBK" panose="03000509000000000000" charset="-122"/>
            </a:endParaRPr>
          </a:p>
          <a:p>
            <a:pPr algn="l">
              <a:lnSpc>
                <a:spcPts val="2405"/>
              </a:lnSpc>
              <a:buClrTx/>
              <a:buSzTx/>
              <a:buFontTx/>
            </a:pPr>
            <a:br>
              <a:rPr lang="en-US" sz="360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</a:br>
            <a:r>
              <a:rPr lang="en-US" sz="360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←主要界面</a:t>
            </a:r>
            <a:endParaRPr lang="en-US" sz="3600" dirty="0">
              <a:solidFill>
                <a:srgbClr val="3D3D3A"/>
              </a:solidFill>
              <a:latin typeface="方正大标宋_GBK" panose="03000509000000000000" charset="-122"/>
              <a:ea typeface="方正大标宋_GBK" panose="03000509000000000000" charset="-122"/>
              <a:cs typeface="方正大标宋_GBK" panose="03000509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6950"/>
            <a:ext cx="118893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535245" y="126950"/>
            <a:ext cx="101633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第二幕 · 系统设计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5899282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0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系统架构</a:t>
            </a:r>
            <a:endParaRPr lang="en-US" sz="1050" dirty="0">
              <a:solidFill>
                <a:srgbClr val="D97757"/>
              </a:solidFill>
              <a:latin typeface="方正大标宋_GBK" panose="03000509000000000000" charset="-122"/>
              <a:ea typeface="方正大标宋_GBK" panose="03000509000000000000" charset="-122"/>
              <a:cs typeface="方正大标宋_GBK" panose="03000509000000000000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0350" y="901601"/>
            <a:ext cx="5899282" cy="396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Aft>
                <a:spcPts val="1400"/>
              </a:spcAft>
              <a:buNone/>
            </a:pPr>
            <a:r>
              <a:rPr lang="en-US" sz="26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四层技术架构</a:t>
            </a:r>
            <a:endParaRPr lang="en-US" sz="26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660400" y="1475740"/>
            <a:ext cx="5899150" cy="3996055"/>
            <a:chOff x="1040" y="2324"/>
            <a:chExt cx="9290" cy="4442"/>
          </a:xfrm>
        </p:grpSpPr>
        <p:sp>
          <p:nvSpPr>
            <p:cNvPr id="7" name="Text 5"/>
            <p:cNvSpPr/>
            <p:nvPr/>
          </p:nvSpPr>
          <p:spPr>
            <a:xfrm>
              <a:off x="1040" y="2324"/>
              <a:ext cx="9290" cy="96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5"/>
                </a:lnSpc>
                <a:spcAft>
                  <a:spcPts val="1000"/>
                </a:spcAft>
                <a:buNone/>
              </a:pPr>
              <a:r>
                <a:rPr lang="en-US" sz="1350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表现层</a:t>
              </a:r>
              <a:r>
                <a:rPr lang="en-US" sz="135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以 React 19 构建三栏辩论室，WebSocket 流式推送，提供 Web 与 Electron 双端访问。</a:t>
              </a:r>
              <a:endParaRPr lang="en-US" sz="13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040" y="3484"/>
              <a:ext cx="9290" cy="96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5"/>
                </a:lnSpc>
                <a:spcAft>
                  <a:spcPts val="1000"/>
                </a:spcAft>
                <a:buNone/>
              </a:pPr>
              <a:r>
                <a:rPr lang="en-US" sz="1350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编排层</a:t>
              </a:r>
              <a:r>
                <a:rPr lang="en-US" sz="135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由 FastAPI + LangGraph StateGraph 驱动九节点循环，YAML 配置 57 步 4v4 赛程。</a:t>
              </a:r>
              <a:endParaRPr lang="en-US" sz="13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040" y="4645"/>
              <a:ext cx="9290" cy="96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5"/>
                </a:lnSpc>
                <a:spcAft>
                  <a:spcPts val="1000"/>
                </a:spcAft>
                <a:buNone/>
              </a:pPr>
              <a:r>
                <a:rPr lang="en-US" sz="1350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智能层</a:t>
              </a:r>
              <a:r>
                <a:rPr lang="en-US" sz="135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集成 DeepSeek 双模型路由、RAG 检索、TTS/ASR，按环节动态选模。</a:t>
              </a:r>
              <a:endParaRPr lang="en-US" sz="13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040" y="5806"/>
              <a:ext cx="9290" cy="96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5"/>
                </a:lnSpc>
                <a:buNone/>
              </a:pPr>
              <a:r>
                <a:rPr lang="en-US" sz="1350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数据层</a:t>
              </a:r>
              <a:r>
                <a:rPr lang="en-US" sz="135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MongoDB 持久化、Redis 实时广播；无数据库时自动降级内存模式。</a:t>
              </a:r>
              <a:endParaRPr lang="en-US" sz="135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7048431" y="1714331"/>
            <a:ext cx="4732139" cy="539948"/>
          </a:xfrm>
          <a:prstGeom prst="roundRect">
            <a:avLst>
              <a:gd name="adj" fmla="val 28225"/>
            </a:avLst>
          </a:prstGeom>
          <a:solidFill>
            <a:srgbClr val="FFFFFF"/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01109" y="2330480"/>
            <a:ext cx="4826782" cy="139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8431" y="2546429"/>
            <a:ext cx="4732139" cy="539948"/>
          </a:xfrm>
          <a:prstGeom prst="roundRect">
            <a:avLst>
              <a:gd name="adj" fmla="val 28225"/>
            </a:avLst>
          </a:prstGeom>
          <a:solidFill>
            <a:srgbClr val="FFFFFF"/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01109" y="3162578"/>
            <a:ext cx="4826782" cy="139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8431" y="3378527"/>
            <a:ext cx="4732139" cy="539948"/>
          </a:xfrm>
          <a:prstGeom prst="roundRect">
            <a:avLst>
              <a:gd name="adj" fmla="val 28225"/>
            </a:avLst>
          </a:prstGeom>
          <a:solidFill>
            <a:srgbClr val="FFFFFF"/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001109" y="3994676"/>
            <a:ext cx="4826782" cy="139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8431" y="4210625"/>
            <a:ext cx="4732139" cy="539948"/>
          </a:xfrm>
          <a:prstGeom prst="roundRect">
            <a:avLst>
              <a:gd name="adj" fmla="val 28225"/>
            </a:avLst>
          </a:prstGeom>
          <a:solidFill>
            <a:srgbClr val="FFFFFF"/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29" name="组合 28"/>
          <p:cNvGrpSpPr/>
          <p:nvPr/>
        </p:nvGrpSpPr>
        <p:grpSpPr>
          <a:xfrm>
            <a:off x="7140575" y="1825625"/>
            <a:ext cx="4547870" cy="2813685"/>
            <a:chOff x="10853" y="1608"/>
            <a:chExt cx="7162" cy="4431"/>
          </a:xfrm>
        </p:grpSpPr>
        <p:sp>
          <p:nvSpPr>
            <p:cNvPr id="12" name="Text 10"/>
            <p:cNvSpPr/>
            <p:nvPr/>
          </p:nvSpPr>
          <p:spPr>
            <a:xfrm>
              <a:off x="10853" y="1608"/>
              <a:ext cx="7163" cy="258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85"/>
                </a:lnSpc>
                <a:buNone/>
              </a:pPr>
              <a:r>
                <a:rPr lang="en-US" sz="950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表现层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0853" y="1865"/>
              <a:ext cx="7163" cy="243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15"/>
                </a:lnSpc>
                <a:buNone/>
              </a:pPr>
              <a:r>
                <a:rPr lang="en-US" sz="90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React 三栏 · WebSocket · Electron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0853" y="2918"/>
              <a:ext cx="7163" cy="258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85"/>
                </a:lnSpc>
                <a:buNone/>
              </a:pPr>
              <a:r>
                <a:rPr lang="en-US" sz="950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编排层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0853" y="3176"/>
              <a:ext cx="7163" cy="243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15"/>
                </a:lnSpc>
                <a:buNone/>
              </a:pPr>
              <a:r>
                <a:rPr lang="en-US" sz="90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FastAPI · LangGraph · 赛程状态机</a:t>
              </a:r>
              <a:endParaRPr lang="en-US" sz="9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0853" y="4228"/>
              <a:ext cx="7163" cy="258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85"/>
                </a:lnSpc>
                <a:buNone/>
              </a:pPr>
              <a:r>
                <a:rPr lang="en-US" sz="950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智能层</a:t>
              </a:r>
              <a:endParaRPr lang="en-US" sz="9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10853" y="4486"/>
              <a:ext cx="7163" cy="243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15"/>
                </a:lnSpc>
                <a:buNone/>
              </a:pPr>
              <a:r>
                <a:rPr lang="en-US" sz="90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DeepSeek · RAG · TTS/ASR</a:t>
              </a:r>
              <a:endParaRPr lang="en-US" sz="9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0853" y="5539"/>
              <a:ext cx="7163" cy="258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85"/>
                </a:lnSpc>
                <a:buNone/>
              </a:pPr>
              <a:r>
                <a:rPr lang="en-US" sz="950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数据层</a:t>
              </a:r>
              <a:endParaRPr lang="en-US" sz="9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10853" y="5797"/>
              <a:ext cx="7163" cy="243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15"/>
                </a:lnSpc>
                <a:buNone/>
              </a:pPr>
              <a:r>
                <a:rPr lang="en-US" sz="90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MongoDB · Redis · 向量索引</a:t>
              </a:r>
              <a:endParaRPr lang="en-US" sz="900" dirty="0"/>
            </a:p>
          </p:txBody>
        </p:sp>
      </p:grpSp>
      <p:sp>
        <p:nvSpPr>
          <p:cNvPr id="26" name="Shape 24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400" y="6631305"/>
            <a:ext cx="1051560" cy="2260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6950"/>
            <a:ext cx="118893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535245" y="126950"/>
            <a:ext cx="101633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第二幕 · 多智能体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1108872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多智能体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901601"/>
            <a:ext cx="11088725" cy="396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Aft>
                <a:spcPts val="1400"/>
              </a:spcAft>
              <a:buNone/>
            </a:pPr>
            <a:r>
              <a:rPr lang="en-US" sz="26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九个角色，各司其职</a:t>
            </a:r>
            <a:endParaRPr lang="en-US" sz="2600" dirty="0"/>
          </a:p>
        </p:txBody>
      </p:sp>
      <p:grpSp>
        <p:nvGrpSpPr>
          <p:cNvPr id="11" name="组合 10"/>
          <p:cNvGrpSpPr/>
          <p:nvPr/>
        </p:nvGrpSpPr>
        <p:grpSpPr>
          <a:xfrm>
            <a:off x="660400" y="1475740"/>
            <a:ext cx="11088370" cy="3669030"/>
            <a:chOff x="1040" y="2324"/>
            <a:chExt cx="17462" cy="2120"/>
          </a:xfrm>
        </p:grpSpPr>
        <p:sp>
          <p:nvSpPr>
            <p:cNvPr id="7" name="Text 5"/>
            <p:cNvSpPr/>
            <p:nvPr/>
          </p:nvSpPr>
          <p:spPr>
            <a:xfrm>
              <a:off x="1040" y="2324"/>
              <a:ext cx="17463" cy="96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5"/>
                </a:lnSpc>
                <a:spcAft>
                  <a:spcPts val="1000"/>
                </a:spcAft>
                <a:buNone/>
              </a:pPr>
              <a:r>
                <a:rPr lang="en-US" sz="240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系统设计了九个具名智能体：正方四辩与反方四辩，各自承担立论、驳论、盘问、总结陈词等环节；紫苑裁判主持流程并触发判断节点。每个角色拥有独立人设与模型配置，避免「角色串台」。</a:t>
              </a:r>
              <a:endParaRPr lang="en-US" sz="240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040" y="3484"/>
              <a:ext cx="17463" cy="96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5"/>
                </a:lnSpc>
                <a:buNone/>
              </a:pPr>
              <a:r>
                <a:rPr lang="en-US" sz="240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三个功能型智能体以工作流节点嵌入：</a:t>
              </a:r>
              <a:r>
                <a:rPr lang="en-US" sz="2400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资料官</a:t>
              </a:r>
              <a:r>
                <a:rPr lang="en-US" sz="240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执行 RAG 检索绑定论据；</a:t>
              </a:r>
              <a:r>
                <a:rPr lang="en-US" sz="2400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策略师</a:t>
              </a:r>
              <a:r>
                <a:rPr lang="en-US" sz="240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规划攻防路线；</a:t>
              </a:r>
              <a:r>
                <a:rPr lang="en-US" sz="2400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AI 教练</a:t>
              </a:r>
              <a:r>
                <a:rPr lang="en-US" sz="240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在人机模式下提供反驳切口与追问建议。教练不代写完整发言——这一边界在后续辩论社访谈中获得同学明确确认。</a:t>
              </a:r>
              <a:endParaRPr lang="en-US" sz="240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endParaRPr>
            </a:p>
          </p:txBody>
        </p:sp>
      </p:grpSp>
      <p:sp>
        <p:nvSpPr>
          <p:cNvPr id="9" name="Shape 7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400" y="6631305"/>
            <a:ext cx="67056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2188"/>
            <a:ext cx="113155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591800" y="122188"/>
            <a:ext cx="95864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第二幕 · 工作流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1108872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工作流设计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901601"/>
            <a:ext cx="11088725" cy="3656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每一轮发言的生命周期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0350" y="1625362"/>
            <a:ext cx="11088725" cy="61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5"/>
              </a:lnSpc>
              <a:buNone/>
            </a:pPr>
            <a:r>
              <a:rPr lang="en-US" sz="200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每当一位辩手或裁判需要产出内容时，LangGraph 启动九节点循环：检索论据 → 规划策略 → 判断方向 → 生成发言 → 事实核查 → 发布广播 → 裁判评分 → 推进赛程。前端脑图同步高亮全部 44 个业务节点。</a:t>
            </a:r>
            <a:endParaRPr lang="en-US" sz="2000" dirty="0">
              <a:solidFill>
                <a:srgbClr val="3D3D3A"/>
              </a:solidFill>
              <a:latin typeface="方正大标宋_GBK" panose="03000509000000000000" charset="-122"/>
              <a:ea typeface="方正大标宋_GBK" panose="03000509000000000000" charset="-122"/>
              <a:cs typeface="方正大标宋_GBK" panose="03000509000000000000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551815" y="3395345"/>
            <a:ext cx="11088370" cy="2178685"/>
            <a:chOff x="869" y="3397"/>
            <a:chExt cx="17462" cy="2148"/>
          </a:xfrm>
        </p:grpSpPr>
        <p:grpSp>
          <p:nvGrpSpPr>
            <p:cNvPr id="34" name="组合 33"/>
            <p:cNvGrpSpPr/>
            <p:nvPr/>
          </p:nvGrpSpPr>
          <p:grpSpPr>
            <a:xfrm>
              <a:off x="5621" y="3397"/>
              <a:ext cx="7958" cy="1749"/>
              <a:chOff x="5621" y="3397"/>
              <a:chExt cx="7958" cy="1749"/>
            </a:xfrm>
          </p:grpSpPr>
          <p:sp>
            <p:nvSpPr>
              <p:cNvPr id="8" name="Text 6"/>
              <p:cNvSpPr/>
              <p:nvPr/>
            </p:nvSpPr>
            <p:spPr>
              <a:xfrm>
                <a:off x="5621" y="3412"/>
                <a:ext cx="1240" cy="593"/>
              </a:xfrm>
              <a:prstGeom prst="roundRect">
                <a:avLst>
                  <a:gd name="adj" fmla="val 40506"/>
                </a:avLst>
              </a:prstGeom>
              <a:solidFill>
                <a:srgbClr val="FFFFFF"/>
              </a:solidFill>
              <a:ln w="9525">
                <a:solidFill>
                  <a:srgbClr val="D97757"/>
                </a:solidFill>
              </a:ln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5828" y="3586"/>
                <a:ext cx="826" cy="24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1215"/>
                  </a:lnSpc>
                  <a:buNone/>
                </a:pPr>
                <a:r>
                  <a:rPr lang="en-US" sz="900" dirty="0">
                    <a:solidFill>
                      <a:srgbClr val="3D3D3A"/>
                    </a:solidFill>
                    <a:latin typeface="方正大标宋_GBK" panose="03000509000000000000" charset="-122"/>
                    <a:ea typeface="方正大标宋_GBK" panose="03000509000000000000" charset="-122"/>
                    <a:cs typeface="方正大标宋_GBK" panose="03000509000000000000" charset="-122"/>
                  </a:rPr>
                  <a:t>RAG检索</a:t>
                </a:r>
                <a:endParaRPr lang="en-US" sz="90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6938" y="3598"/>
                <a:ext cx="285" cy="2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1100"/>
                  </a:lnSpc>
                  <a:buNone/>
                </a:pPr>
                <a:r>
                  <a:rPr lang="en-US" sz="1100" dirty="0">
                    <a:solidFill>
                      <a:srgbClr val="D97757"/>
                    </a:solidFill>
                    <a:latin typeface="方正大标宋_GBK" panose="03000509000000000000" charset="-122"/>
                    <a:ea typeface="方正大标宋_GBK" panose="03000509000000000000" charset="-122"/>
                    <a:cs typeface="方正大标宋_GBK" panose="03000509000000000000" charset="-122"/>
                  </a:rPr>
                  <a:t>→</a:t>
                </a:r>
                <a:endParaRPr lang="en-US" sz="1100" dirty="0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7301" y="3412"/>
                <a:ext cx="1240" cy="593"/>
              </a:xfrm>
              <a:prstGeom prst="roundRect">
                <a:avLst>
                  <a:gd name="adj" fmla="val 40506"/>
                </a:avLst>
              </a:prstGeom>
              <a:solidFill>
                <a:srgbClr val="FFFFFF"/>
              </a:solidFill>
              <a:ln w="9525">
                <a:solidFill>
                  <a:srgbClr val="D97757"/>
                </a:solidFill>
              </a:ln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7507" y="3586"/>
                <a:ext cx="826" cy="24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1215"/>
                  </a:lnSpc>
                  <a:buNone/>
                </a:pPr>
                <a:r>
                  <a:rPr lang="en-US" sz="900" dirty="0">
                    <a:solidFill>
                      <a:srgbClr val="3D3D3A"/>
                    </a:solidFill>
                    <a:latin typeface="方正大标宋_GBK" panose="03000509000000000000" charset="-122"/>
                    <a:ea typeface="方正大标宋_GBK" panose="03000509000000000000" charset="-122"/>
                    <a:cs typeface="方正大标宋_GBK" panose="03000509000000000000" charset="-122"/>
                  </a:rPr>
                  <a:t>策略规划</a:t>
                </a:r>
                <a:endParaRPr lang="en-US" sz="90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8618" y="3598"/>
                <a:ext cx="285" cy="2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1100"/>
                  </a:lnSpc>
                  <a:buNone/>
                </a:pPr>
                <a:r>
                  <a:rPr lang="en-US" sz="1100" dirty="0">
                    <a:solidFill>
                      <a:srgbClr val="D97757"/>
                    </a:solidFill>
                    <a:latin typeface="方正大标宋_GBK" panose="03000509000000000000" charset="-122"/>
                    <a:ea typeface="方正大标宋_GBK" panose="03000509000000000000" charset="-122"/>
                    <a:cs typeface="方正大标宋_GBK" panose="03000509000000000000" charset="-122"/>
                  </a:rPr>
                  <a:t>→</a:t>
                </a:r>
                <a:endParaRPr lang="en-US" sz="110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8980" y="3397"/>
                <a:ext cx="1240" cy="623"/>
              </a:xfrm>
              <a:prstGeom prst="roundRect">
                <a:avLst>
                  <a:gd name="adj" fmla="val 38554"/>
                </a:avLst>
              </a:prstGeom>
              <a:solidFill>
                <a:srgbClr val="D97757">
                  <a:alpha val="12000"/>
                </a:srgbClr>
              </a:solidFill>
              <a:ln w="19050">
                <a:solidFill>
                  <a:srgbClr val="D97757"/>
                </a:solidFill>
              </a:ln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9202" y="3586"/>
                <a:ext cx="796" cy="24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1215"/>
                  </a:lnSpc>
                  <a:buNone/>
                </a:pPr>
                <a:r>
                  <a:rPr lang="en-US" sz="900" dirty="0">
                    <a:solidFill>
                      <a:srgbClr val="C15F3C"/>
                    </a:solidFill>
                    <a:latin typeface="方正大标宋_GBK" panose="03000509000000000000" charset="-122"/>
                    <a:ea typeface="方正大标宋_GBK" panose="03000509000000000000" charset="-122"/>
                    <a:cs typeface="方正大标宋_GBK" panose="03000509000000000000" charset="-122"/>
                  </a:rPr>
                  <a:t>方向判断</a:t>
                </a:r>
                <a:endParaRPr lang="en-US" sz="900" dirty="0"/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10297" y="3598"/>
                <a:ext cx="285" cy="2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1100"/>
                  </a:lnSpc>
                  <a:buNone/>
                </a:pPr>
                <a:r>
                  <a:rPr lang="en-US" sz="1100" dirty="0">
                    <a:solidFill>
                      <a:srgbClr val="D97757"/>
                    </a:solidFill>
                    <a:latin typeface="方正大标宋_GBK" panose="03000509000000000000" charset="-122"/>
                    <a:ea typeface="方正大标宋_GBK" panose="03000509000000000000" charset="-122"/>
                    <a:cs typeface="方正大标宋_GBK" panose="03000509000000000000" charset="-122"/>
                  </a:rPr>
                  <a:t>→</a:t>
                </a:r>
                <a:endParaRPr lang="en-US" sz="1100" dirty="0"/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10660" y="3412"/>
                <a:ext cx="1240" cy="593"/>
              </a:xfrm>
              <a:prstGeom prst="roundRect">
                <a:avLst>
                  <a:gd name="adj" fmla="val 40506"/>
                </a:avLst>
              </a:prstGeom>
              <a:solidFill>
                <a:srgbClr val="FFFFFF"/>
              </a:solidFill>
              <a:ln w="9525">
                <a:solidFill>
                  <a:srgbClr val="D97757"/>
                </a:solidFill>
              </a:ln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10866" y="3586"/>
                <a:ext cx="826" cy="24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1215"/>
                  </a:lnSpc>
                  <a:buNone/>
                </a:pPr>
                <a:r>
                  <a:rPr lang="en-US" sz="900" dirty="0">
                    <a:solidFill>
                      <a:srgbClr val="3D3D3A"/>
                    </a:solidFill>
                    <a:latin typeface="方正大标宋_GBK" panose="03000509000000000000" charset="-122"/>
                    <a:ea typeface="方正大标宋_GBK" panose="03000509000000000000" charset="-122"/>
                    <a:cs typeface="方正大标宋_GBK" panose="03000509000000000000" charset="-122"/>
                  </a:rPr>
                  <a:t>发言生成</a:t>
                </a:r>
                <a:endParaRPr lang="en-US" sz="900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11977" y="3598"/>
                <a:ext cx="285" cy="2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1100"/>
                  </a:lnSpc>
                  <a:buNone/>
                </a:pPr>
                <a:r>
                  <a:rPr lang="en-US" sz="1100" dirty="0">
                    <a:solidFill>
                      <a:srgbClr val="D97757"/>
                    </a:solidFill>
                    <a:latin typeface="方正大标宋_GBK" panose="03000509000000000000" charset="-122"/>
                    <a:ea typeface="方正大标宋_GBK" panose="03000509000000000000" charset="-122"/>
                    <a:cs typeface="方正大标宋_GBK" panose="03000509000000000000" charset="-122"/>
                  </a:rPr>
                  <a:t>→</a:t>
                </a:r>
                <a:endParaRPr lang="en-US" sz="1100" dirty="0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12339" y="3397"/>
                <a:ext cx="1240" cy="623"/>
              </a:xfrm>
              <a:prstGeom prst="roundRect">
                <a:avLst>
                  <a:gd name="adj" fmla="val 38554"/>
                </a:avLst>
              </a:prstGeom>
              <a:solidFill>
                <a:srgbClr val="D97757">
                  <a:alpha val="12000"/>
                </a:srgbClr>
              </a:solidFill>
              <a:ln w="19050">
                <a:solidFill>
                  <a:srgbClr val="D97757"/>
                </a:solidFill>
              </a:ln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12561" y="3586"/>
                <a:ext cx="796" cy="24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1215"/>
                  </a:lnSpc>
                  <a:buNone/>
                </a:pPr>
                <a:r>
                  <a:rPr lang="en-US" sz="900" dirty="0">
                    <a:solidFill>
                      <a:srgbClr val="C15F3C"/>
                    </a:solidFill>
                    <a:latin typeface="方正大标宋_GBK" panose="03000509000000000000" charset="-122"/>
                    <a:ea typeface="方正大标宋_GBK" panose="03000509000000000000" charset="-122"/>
                    <a:cs typeface="方正大标宋_GBK" panose="03000509000000000000" charset="-122"/>
                  </a:rPr>
                  <a:t>事实核查</a:t>
                </a:r>
                <a:endParaRPr lang="en-US" sz="900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7301" y="4539"/>
                <a:ext cx="1240" cy="593"/>
              </a:xfrm>
              <a:prstGeom prst="roundRect">
                <a:avLst>
                  <a:gd name="adj" fmla="val 40506"/>
                </a:avLst>
              </a:prstGeom>
              <a:solidFill>
                <a:srgbClr val="FFFFFF"/>
              </a:solidFill>
              <a:ln w="9525">
                <a:solidFill>
                  <a:srgbClr val="D97757"/>
                </a:solidFill>
              </a:ln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7507" y="4714"/>
                <a:ext cx="826" cy="24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1215"/>
                  </a:lnSpc>
                  <a:buNone/>
                </a:pPr>
                <a:r>
                  <a:rPr lang="en-US" sz="900" dirty="0">
                    <a:solidFill>
                      <a:srgbClr val="3D3D3A"/>
                    </a:solidFill>
                    <a:latin typeface="方正大标宋_GBK" panose="03000509000000000000" charset="-122"/>
                    <a:ea typeface="方正大标宋_GBK" panose="03000509000000000000" charset="-122"/>
                    <a:cs typeface="方正大标宋_GBK" panose="03000509000000000000" charset="-122"/>
                  </a:rPr>
                  <a:t>发布广播</a:t>
                </a:r>
                <a:endParaRPr lang="en-US" sz="900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8618" y="4725"/>
                <a:ext cx="285" cy="2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1100"/>
                  </a:lnSpc>
                  <a:buNone/>
                </a:pPr>
                <a:r>
                  <a:rPr lang="en-US" sz="1100" dirty="0">
                    <a:solidFill>
                      <a:srgbClr val="D97757"/>
                    </a:solidFill>
                    <a:latin typeface="方正大标宋_GBK" panose="03000509000000000000" charset="-122"/>
                    <a:ea typeface="方正大标宋_GBK" panose="03000509000000000000" charset="-122"/>
                    <a:cs typeface="方正大标宋_GBK" panose="03000509000000000000" charset="-122"/>
                  </a:rPr>
                  <a:t>→</a:t>
                </a:r>
                <a:endParaRPr lang="en-US" sz="1100" dirty="0"/>
              </a:p>
            </p:txBody>
          </p:sp>
          <p:sp>
            <p:nvSpPr>
              <p:cNvPr id="26" name="Text 24"/>
              <p:cNvSpPr/>
              <p:nvPr/>
            </p:nvSpPr>
            <p:spPr>
              <a:xfrm>
                <a:off x="8980" y="4524"/>
                <a:ext cx="1240" cy="623"/>
              </a:xfrm>
              <a:prstGeom prst="roundRect">
                <a:avLst>
                  <a:gd name="adj" fmla="val 38554"/>
                </a:avLst>
              </a:prstGeom>
              <a:solidFill>
                <a:srgbClr val="D97757">
                  <a:alpha val="12000"/>
                </a:srgbClr>
              </a:solidFill>
              <a:ln w="19050">
                <a:solidFill>
                  <a:srgbClr val="D97757"/>
                </a:solidFill>
              </a:ln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9202" y="4714"/>
                <a:ext cx="796" cy="24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1215"/>
                  </a:lnSpc>
                  <a:buNone/>
                </a:pPr>
                <a:r>
                  <a:rPr lang="en-US" sz="900" dirty="0">
                    <a:solidFill>
                      <a:srgbClr val="C15F3C"/>
                    </a:solidFill>
                    <a:latin typeface="方正大标宋_GBK" panose="03000509000000000000" charset="-122"/>
                    <a:ea typeface="方正大标宋_GBK" panose="03000509000000000000" charset="-122"/>
                    <a:cs typeface="方正大标宋_GBK" panose="03000509000000000000" charset="-122"/>
                  </a:rPr>
                  <a:t>裁判评分</a:t>
                </a:r>
                <a:endParaRPr lang="en-US" sz="900" dirty="0"/>
              </a:p>
            </p:txBody>
          </p:sp>
          <p:sp>
            <p:nvSpPr>
              <p:cNvPr id="28" name="Text 26"/>
              <p:cNvSpPr/>
              <p:nvPr/>
            </p:nvSpPr>
            <p:spPr>
              <a:xfrm>
                <a:off x="10297" y="4725"/>
                <a:ext cx="285" cy="2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1100"/>
                  </a:lnSpc>
                  <a:buNone/>
                </a:pPr>
                <a:r>
                  <a:rPr lang="en-US" sz="1100" dirty="0">
                    <a:solidFill>
                      <a:srgbClr val="D97757"/>
                    </a:solidFill>
                    <a:latin typeface="方正大标宋_GBK" panose="03000509000000000000" charset="-122"/>
                    <a:ea typeface="方正大标宋_GBK" panose="03000509000000000000" charset="-122"/>
                    <a:cs typeface="方正大标宋_GBK" panose="03000509000000000000" charset="-122"/>
                  </a:rPr>
                  <a:t>→</a:t>
                </a:r>
                <a:endParaRPr lang="en-US" sz="1100" dirty="0"/>
              </a:p>
            </p:txBody>
          </p:sp>
          <p:sp>
            <p:nvSpPr>
              <p:cNvPr id="29" name="Text 27"/>
              <p:cNvSpPr/>
              <p:nvPr/>
            </p:nvSpPr>
            <p:spPr>
              <a:xfrm>
                <a:off x="10660" y="4524"/>
                <a:ext cx="1240" cy="623"/>
              </a:xfrm>
              <a:prstGeom prst="roundRect">
                <a:avLst>
                  <a:gd name="adj" fmla="val 38554"/>
                </a:avLst>
              </a:prstGeom>
              <a:solidFill>
                <a:srgbClr val="D97757">
                  <a:alpha val="12000"/>
                </a:srgbClr>
              </a:solidFill>
              <a:ln w="19050">
                <a:solidFill>
                  <a:srgbClr val="D97757"/>
                </a:solidFill>
              </a:ln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30" name="Text 28"/>
              <p:cNvSpPr/>
              <p:nvPr/>
            </p:nvSpPr>
            <p:spPr>
              <a:xfrm>
                <a:off x="10882" y="4714"/>
                <a:ext cx="796" cy="24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1215"/>
                  </a:lnSpc>
                  <a:buNone/>
                </a:pPr>
                <a:r>
                  <a:rPr lang="en-US" sz="900" dirty="0">
                    <a:solidFill>
                      <a:srgbClr val="C15F3C"/>
                    </a:solidFill>
                    <a:latin typeface="方正大标宋_GBK" panose="03000509000000000000" charset="-122"/>
                    <a:ea typeface="方正大标宋_GBK" panose="03000509000000000000" charset="-122"/>
                    <a:cs typeface="方正大标宋_GBK" panose="03000509000000000000" charset="-122"/>
                  </a:rPr>
                  <a:t>环节推进</a:t>
                </a:r>
                <a:endParaRPr lang="en-US" sz="900" dirty="0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869" y="4179"/>
              <a:ext cx="17462" cy="1367"/>
              <a:chOff x="869" y="4179"/>
              <a:chExt cx="17462" cy="1367"/>
            </a:xfrm>
          </p:grpSpPr>
          <p:sp>
            <p:nvSpPr>
              <p:cNvPr id="22" name="Text 20"/>
              <p:cNvSpPr/>
              <p:nvPr/>
            </p:nvSpPr>
            <p:spPr>
              <a:xfrm>
                <a:off x="869" y="4179"/>
                <a:ext cx="17463" cy="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C15F3C"/>
                    </a:solidFill>
                    <a:latin typeface="方正大标宋_GBK" panose="03000509000000000000" charset="-122"/>
                    <a:ea typeface="方正大标宋_GBK" panose="03000509000000000000" charset="-122"/>
                    <a:cs typeface="方正大标宋_GBK" panose="03000509000000000000" charset="-122"/>
                  </a:rPr>
                  <a:t>核查未通过 ↺ 回环重写（≤2次）</a:t>
                </a:r>
                <a:endParaRPr lang="en-US" sz="800" dirty="0"/>
              </a:p>
            </p:txBody>
          </p:sp>
          <p:sp>
            <p:nvSpPr>
              <p:cNvPr id="31" name="Text 29"/>
              <p:cNvSpPr/>
              <p:nvPr/>
            </p:nvSpPr>
            <p:spPr>
              <a:xfrm>
                <a:off x="869" y="5306"/>
                <a:ext cx="17463" cy="24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850" dirty="0">
                    <a:solidFill>
                      <a:srgbClr val="6B6B67"/>
                    </a:solidFill>
                    <a:latin typeface="方正大标宋_GBK" panose="03000509000000000000" charset="-122"/>
                    <a:ea typeface="方正大标宋_GBK" panose="03000509000000000000" charset="-122"/>
                    <a:cs typeface="方正大标宋_GBK" panose="03000509000000000000" charset="-122"/>
                  </a:rPr>
                  <a:t>赤陶圆角框 = 大模型判断/决策节点</a:t>
                </a:r>
                <a:endParaRPr lang="en-US" sz="850" dirty="0"/>
              </a:p>
            </p:txBody>
          </p:sp>
        </p:grpSp>
      </p:grpSp>
      <p:sp>
        <p:nvSpPr>
          <p:cNvPr id="32" name="Shape 30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400" y="6626225"/>
            <a:ext cx="83248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6950"/>
            <a:ext cx="118893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781258" y="126950"/>
            <a:ext cx="76539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第二幕 · 赛制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5899282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赛制引擎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901601"/>
            <a:ext cx="5899282" cy="396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Aft>
                <a:spcPts val="1400"/>
              </a:spcAft>
              <a:buNone/>
            </a:pPr>
            <a:r>
              <a:rPr lang="en-US" sz="26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标准 4v4，五十七步</a:t>
            </a:r>
            <a:endParaRPr lang="en-US" sz="2600" dirty="0"/>
          </a:p>
        </p:txBody>
      </p:sp>
      <p:grpSp>
        <p:nvGrpSpPr>
          <p:cNvPr id="17" name="组合 16"/>
          <p:cNvGrpSpPr/>
          <p:nvPr/>
        </p:nvGrpSpPr>
        <p:grpSpPr>
          <a:xfrm>
            <a:off x="660400" y="1475740"/>
            <a:ext cx="7042150" cy="2229485"/>
            <a:chOff x="1040" y="2324"/>
            <a:chExt cx="9290" cy="2120"/>
          </a:xfrm>
        </p:grpSpPr>
        <p:sp>
          <p:nvSpPr>
            <p:cNvPr id="7" name="Text 5"/>
            <p:cNvSpPr/>
            <p:nvPr/>
          </p:nvSpPr>
          <p:spPr>
            <a:xfrm>
              <a:off x="1040" y="2324"/>
              <a:ext cx="9290" cy="96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5"/>
                </a:lnSpc>
                <a:spcAft>
                  <a:spcPts val="1000"/>
                </a:spcAft>
                <a:buNone/>
              </a:pPr>
              <a:r>
                <a:rPr lang="en-US" sz="200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赛制以 YAML 描述，标准模式 57 个赛程段覆盖立论、驳论、盘问、自由辩论、总结陈词与裁判终局。每段指定发言人、限时与阶段，系统自动推进。</a:t>
              </a:r>
              <a:endParaRPr lang="en-US" sz="200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040" y="3484"/>
              <a:ext cx="9290" cy="96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5"/>
                </a:lnSpc>
                <a:buNone/>
              </a:pPr>
              <a:r>
                <a:rPr lang="en-US" sz="200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工程上加入「裁判流程快路径」：程序性环节直接执行检索或判断后推进，避免演示节奏拖沓；quick_demo 模式 16 步，方便限时展示。</a:t>
              </a:r>
              <a:endParaRPr lang="en-US" sz="200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endParaRPr>
            </a:p>
          </p:txBody>
        </p:sp>
      </p:grpSp>
      <p:sp>
        <p:nvSpPr>
          <p:cNvPr id="13" name="Shape 11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400" y="6631305"/>
            <a:ext cx="614045" cy="2260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855" y="4002405"/>
            <a:ext cx="11828145" cy="72453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5335905" y="5123180"/>
            <a:ext cx="14827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赛程进度条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2188"/>
            <a:ext cx="113155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591800" y="122188"/>
            <a:ext cx="95864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第二幕 · 防幻觉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5899282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防幻觉工程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901601"/>
            <a:ext cx="5899282" cy="396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Aft>
                <a:spcPts val="1400"/>
              </a:spcAft>
              <a:buNone/>
            </a:pPr>
            <a:r>
              <a:rPr lang="en-US" sz="26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让每一条论据都可以被追问</a:t>
            </a:r>
            <a:endParaRPr lang="en-US" sz="2600" dirty="0"/>
          </a:p>
        </p:txBody>
      </p:sp>
      <p:grpSp>
        <p:nvGrpSpPr>
          <p:cNvPr id="22" name="组合 21"/>
          <p:cNvGrpSpPr/>
          <p:nvPr/>
        </p:nvGrpSpPr>
        <p:grpSpPr>
          <a:xfrm>
            <a:off x="660400" y="1475740"/>
            <a:ext cx="5899150" cy="3445510"/>
            <a:chOff x="1040" y="2324"/>
            <a:chExt cx="9290" cy="2601"/>
          </a:xfrm>
        </p:grpSpPr>
        <p:sp>
          <p:nvSpPr>
            <p:cNvPr id="7" name="Text 5"/>
            <p:cNvSpPr/>
            <p:nvPr/>
          </p:nvSpPr>
          <p:spPr>
            <a:xfrm>
              <a:off x="1040" y="2324"/>
              <a:ext cx="9290" cy="144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5"/>
                </a:lnSpc>
                <a:spcAft>
                  <a:spcPts val="1000"/>
                </a:spcAft>
                <a:buNone/>
              </a:pPr>
              <a:r>
                <a:rPr lang="en-US" sz="160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防幻觉贯穿发言前中后：RAG 检索绑定来源 → 生成时约束引用编号 → sanitize_citations 移除未入库标记 → fact_check 回环重写（≤2次）→ 裁判评分幻觉扣分。</a:t>
              </a:r>
              <a:endParaRPr lang="en-US" sz="160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040" y="3965"/>
              <a:ext cx="9290" cy="96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5"/>
                </a:lnSpc>
                <a:buNone/>
              </a:pPr>
              <a:r>
                <a:rPr lang="en-US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用户可在主舞台点击引用标记，通过 CitationDetailPanel 查看原文摘录与可靠性评分。</a:t>
              </a:r>
              <a:endParaRPr lang="en-US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703695" y="2812415"/>
            <a:ext cx="5103495" cy="1067435"/>
            <a:chOff x="10737" y="4624"/>
            <a:chExt cx="7453" cy="1122"/>
          </a:xfrm>
        </p:grpSpPr>
        <p:sp>
          <p:nvSpPr>
            <p:cNvPr id="9" name="Text 7"/>
            <p:cNvSpPr/>
            <p:nvPr/>
          </p:nvSpPr>
          <p:spPr>
            <a:xfrm>
              <a:off x="10737" y="4624"/>
              <a:ext cx="2048" cy="1123"/>
            </a:xfrm>
            <a:prstGeom prst="roundRect">
              <a:avLst>
                <a:gd name="adj" fmla="val 21369"/>
              </a:avLst>
            </a:prstGeom>
            <a:solidFill>
              <a:srgbClr val="FFFFFF"/>
            </a:solidFill>
            <a:ln w="9525">
              <a:solidFill>
                <a:srgbClr val="D97757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0936" y="4799"/>
              <a:ext cx="1650" cy="258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85"/>
                </a:lnSpc>
                <a:buNone/>
              </a:pPr>
              <a:r>
                <a:rPr lang="en-US" sz="950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发言前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0936" y="5057"/>
              <a:ext cx="1650" cy="486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15"/>
                </a:lnSpc>
                <a:buNone/>
              </a:pPr>
              <a:r>
                <a:rPr lang="en-US" sz="90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RAG检索 · 绑定来源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2900" y="5076"/>
              <a:ext cx="408" cy="22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100"/>
                </a:lnSpc>
                <a:buNone/>
              </a:pPr>
              <a:r>
                <a:rPr lang="en-US" sz="1100" dirty="0">
                  <a:solidFill>
                    <a:srgbClr val="D97757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→</a:t>
              </a:r>
              <a:endParaRPr lang="en-US" sz="11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3424" y="4624"/>
              <a:ext cx="2048" cy="1123"/>
            </a:xfrm>
            <a:prstGeom prst="roundRect">
              <a:avLst>
                <a:gd name="adj" fmla="val 21369"/>
              </a:avLst>
            </a:prstGeom>
            <a:solidFill>
              <a:srgbClr val="FFFFFF"/>
            </a:solidFill>
            <a:ln w="9525">
              <a:solidFill>
                <a:srgbClr val="D97757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3623" y="4799"/>
              <a:ext cx="1650" cy="258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85"/>
                </a:lnSpc>
                <a:buNone/>
              </a:pPr>
              <a:r>
                <a:rPr lang="en-US" sz="950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发言中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3623" y="5057"/>
              <a:ext cx="1650" cy="486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15"/>
                </a:lnSpc>
                <a:buNone/>
              </a:pPr>
              <a:r>
                <a:rPr lang="en-US" sz="90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引用校验 · 数字检测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5588" y="5057"/>
              <a:ext cx="408" cy="22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100"/>
                </a:lnSpc>
                <a:buNone/>
              </a:pPr>
              <a:r>
                <a:rPr lang="en-US" sz="1100" dirty="0">
                  <a:solidFill>
                    <a:srgbClr val="D97757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→</a:t>
              </a:r>
              <a:endParaRPr lang="en-US" sz="11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6112" y="4624"/>
              <a:ext cx="2078" cy="1123"/>
            </a:xfrm>
            <a:prstGeom prst="roundRect">
              <a:avLst>
                <a:gd name="adj" fmla="val 21369"/>
              </a:avLst>
            </a:prstGeom>
            <a:solidFill>
              <a:srgbClr val="D97757">
                <a:alpha val="12000"/>
              </a:srgbClr>
            </a:solidFill>
            <a:ln w="19050">
              <a:solidFill>
                <a:srgbClr val="D97757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6325" y="4814"/>
              <a:ext cx="1650" cy="258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85"/>
                </a:lnSpc>
                <a:buNone/>
              </a:pPr>
              <a:r>
                <a:rPr lang="en-US" sz="950" b="1" dirty="0">
                  <a:solidFill>
                    <a:srgbClr val="C15F3C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发言后</a:t>
              </a:r>
              <a:endParaRPr lang="en-US" sz="9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6325" y="5072"/>
              <a:ext cx="1650" cy="486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15"/>
                </a:lnSpc>
                <a:buNone/>
              </a:pPr>
              <a:r>
                <a:rPr lang="en-US" sz="900" dirty="0">
                  <a:solidFill>
                    <a:srgbClr val="C15F3C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fact_check · 回环重写</a:t>
              </a:r>
              <a:endParaRPr lang="en-US" sz="900" dirty="0"/>
            </a:p>
          </p:txBody>
        </p:sp>
      </p:grpSp>
      <p:sp>
        <p:nvSpPr>
          <p:cNvPr id="20" name="Shape 18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400" y="6626225"/>
            <a:ext cx="97536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6950"/>
            <a:ext cx="118893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535245" y="126950"/>
            <a:ext cx="101633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第二幕 · 人机协同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5899282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人机协同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901601"/>
            <a:ext cx="5899282" cy="3656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辅助思考，而非替代思考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0400" y="1394460"/>
            <a:ext cx="4895215" cy="9150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5"/>
              </a:lnSpc>
              <a:buNone/>
            </a:pP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人机混合模式下，AI 教练给出反驳切口与追问方向，</a:t>
            </a:r>
            <a:r>
              <a:rPr lang="zh-CN" alt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且</a:t>
            </a: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不自动生成完整发言稿。发言草稿辅助生成可编辑草稿供用户修改后提交；录音转写支持口述转文字。三种观赛视角（复盘、赛场、全知）满足</a:t>
            </a:r>
            <a:r>
              <a:rPr lang="zh-CN" alt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多种</a:t>
            </a: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教学场景。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146045" y="695176"/>
            <a:ext cx="1261497" cy="3860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20"/>
              </a:lnSpc>
              <a:buNone/>
            </a:pPr>
            <a:r>
              <a:rPr lang="en-US" sz="9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【截图 3：观赛视角切换】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282367" y="1182737"/>
            <a:ext cx="988704" cy="193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20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复盘 / 赛场 / 全知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400" y="6631305"/>
            <a:ext cx="117856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7700" y="1391285"/>
            <a:ext cx="6259830" cy="117157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2872740"/>
            <a:ext cx="6659245" cy="151066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4383405"/>
            <a:ext cx="7407275" cy="20154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6950"/>
            <a:ext cx="118893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781258" y="126950"/>
            <a:ext cx="76539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第二幕 · 跨端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51765" y="556161"/>
            <a:ext cx="110887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多模态与跨端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863501"/>
            <a:ext cx="11088725" cy="3351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不止于文字辩论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0400" y="1275080"/>
            <a:ext cx="11089005" cy="6661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Aft>
                <a:spcPts val="1000"/>
              </a:spcAft>
              <a:buNone/>
            </a:pPr>
            <a:r>
              <a:rPr lang="en-US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TTS 独立音色、录音 ASR、摄像头表现评价；Web / Electron / U 盘便携三种交付，支持局域网联机与公网穿透。</a:t>
            </a:r>
            <a:endParaRPr lang="en-US" dirty="0">
              <a:solidFill>
                <a:srgbClr val="3D3D3A"/>
              </a:solidFill>
              <a:latin typeface="方正大标宋_GBK" panose="03000509000000000000" charset="-122"/>
              <a:ea typeface="方正大标宋_GBK" panose="03000509000000000000" charset="-122"/>
              <a:cs typeface="方正大标宋_GBK" panose="03000509000000000000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20669" y="2036713"/>
            <a:ext cx="1637062" cy="193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20"/>
              </a:lnSpc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859395" y="2616835"/>
            <a:ext cx="2921635" cy="269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algn="l">
              <a:lnSpc>
                <a:spcPts val="1920"/>
              </a:lnSpc>
              <a:spcBef>
                <a:spcPts val="80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sz="160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一键安装依赖加启动程序</a:t>
            </a:r>
            <a:endParaRPr lang="en-US" sz="1600" dirty="0">
              <a:solidFill>
                <a:srgbClr val="3D3D3A"/>
              </a:solidFill>
              <a:latin typeface="方正大标宋_GBK" panose="03000509000000000000" charset="-122"/>
              <a:ea typeface="方正大标宋_GBK" panose="03000509000000000000" charset="-122"/>
              <a:cs typeface="方正大标宋_GBK" panose="03000509000000000000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400" y="6631305"/>
            <a:ext cx="709295" cy="2260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1455" y="3067050"/>
            <a:ext cx="6690995" cy="30010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2188"/>
            <a:ext cx="113155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8719" y="122188"/>
            <a:ext cx="108418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第三幕 · 开发历程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1108872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开发历程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901601"/>
            <a:ext cx="11088725" cy="396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Aft>
                <a:spcPts val="1200"/>
              </a:spcAft>
              <a:buNone/>
            </a:pPr>
            <a:r>
              <a:rPr lang="en-US" sz="26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从调研到可交付系统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68985" y="2907665"/>
            <a:ext cx="1470025" cy="463550"/>
          </a:xfrm>
          <a:prstGeom prst="roundRect">
            <a:avLst>
              <a:gd name="adj" fmla="val 43817"/>
            </a:avLst>
          </a:prstGeom>
          <a:solidFill>
            <a:srgbClr val="FFFFFF"/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1375" y="2980690"/>
            <a:ext cx="1324610" cy="1638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85"/>
              </a:lnSpc>
              <a:buNone/>
            </a:pPr>
            <a:r>
              <a:rPr lang="en-US" sz="950" b="1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调研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375" y="3143885"/>
            <a:ext cx="1324610" cy="154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90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【待填】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9810" y="3133090"/>
            <a:ext cx="304800" cy="12700"/>
          </a:xfrm>
          <a:prstGeom prst="rect">
            <a:avLst/>
          </a:prstGeom>
          <a:solidFill>
            <a:srgbClr val="D97757">
              <a:alpha val="3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45410" y="2907665"/>
            <a:ext cx="1470025" cy="463550"/>
          </a:xfrm>
          <a:prstGeom prst="roundRect">
            <a:avLst>
              <a:gd name="adj" fmla="val 43817"/>
            </a:avLst>
          </a:prstGeom>
          <a:solidFill>
            <a:srgbClr val="FFFFFF"/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17800" y="2980690"/>
            <a:ext cx="1324610" cy="1638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85"/>
              </a:lnSpc>
              <a:buNone/>
            </a:pPr>
            <a:r>
              <a:rPr lang="en-US" sz="950" b="1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原型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17800" y="3143885"/>
            <a:ext cx="1324610" cy="154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90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【待填】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66235" y="3133090"/>
            <a:ext cx="304800" cy="12700"/>
          </a:xfrm>
          <a:prstGeom prst="rect">
            <a:avLst/>
          </a:prstGeom>
          <a:solidFill>
            <a:srgbClr val="D97757">
              <a:alpha val="3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21835" y="2907665"/>
            <a:ext cx="1470025" cy="463550"/>
          </a:xfrm>
          <a:prstGeom prst="roundRect">
            <a:avLst>
              <a:gd name="adj" fmla="val 43817"/>
            </a:avLst>
          </a:prstGeom>
          <a:solidFill>
            <a:srgbClr val="FFFFFF"/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94225" y="2980690"/>
            <a:ext cx="1324610" cy="1638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85"/>
              </a:lnSpc>
              <a:buNone/>
            </a:pPr>
            <a:r>
              <a:rPr lang="en-US" sz="950" b="1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工作流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94225" y="3143885"/>
            <a:ext cx="1324610" cy="154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90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【待填】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42660" y="3133090"/>
            <a:ext cx="304800" cy="12700"/>
          </a:xfrm>
          <a:prstGeom prst="rect">
            <a:avLst/>
          </a:prstGeom>
          <a:solidFill>
            <a:srgbClr val="D97757">
              <a:alpha val="3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98260" y="2907665"/>
            <a:ext cx="1470025" cy="463550"/>
          </a:xfrm>
          <a:prstGeom prst="roundRect">
            <a:avLst>
              <a:gd name="adj" fmla="val 43817"/>
            </a:avLst>
          </a:prstGeom>
          <a:solidFill>
            <a:srgbClr val="FFFFFF"/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70650" y="2980690"/>
            <a:ext cx="1324610" cy="1638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85"/>
              </a:lnSpc>
              <a:buNone/>
            </a:pPr>
            <a:r>
              <a:rPr lang="en-US" sz="950" b="1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工程化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70650" y="3143885"/>
            <a:ext cx="1324610" cy="154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90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【待填】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19085" y="3133090"/>
            <a:ext cx="304800" cy="12700"/>
          </a:xfrm>
          <a:prstGeom prst="rect">
            <a:avLst/>
          </a:prstGeom>
          <a:solidFill>
            <a:srgbClr val="D97757">
              <a:alpha val="3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274685" y="2898140"/>
            <a:ext cx="1489075" cy="482600"/>
          </a:xfrm>
          <a:prstGeom prst="roundRect">
            <a:avLst>
              <a:gd name="adj" fmla="val 42088"/>
            </a:avLst>
          </a:prstGeom>
          <a:solidFill>
            <a:srgbClr val="D97757">
              <a:alpha val="12000"/>
            </a:srgbClr>
          </a:solidFill>
          <a:ln w="19050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356600" y="2980690"/>
            <a:ext cx="1324610" cy="1638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85"/>
              </a:lnSpc>
              <a:buNone/>
            </a:pPr>
            <a:r>
              <a:rPr lang="en-US" sz="950" b="1" dirty="0">
                <a:solidFill>
                  <a:srgbClr val="C15F3C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辩论社交流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56600" y="3143885"/>
            <a:ext cx="1324610" cy="154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900" dirty="0">
                <a:solidFill>
                  <a:srgbClr val="C15F3C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【待填】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14560" y="3133090"/>
            <a:ext cx="304800" cy="12700"/>
          </a:xfrm>
          <a:prstGeom prst="rect">
            <a:avLst/>
          </a:prstGeom>
          <a:solidFill>
            <a:srgbClr val="D97757">
              <a:alpha val="3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170160" y="2907665"/>
            <a:ext cx="1470025" cy="463550"/>
          </a:xfrm>
          <a:prstGeom prst="roundRect">
            <a:avLst>
              <a:gd name="adj" fmla="val 43817"/>
            </a:avLst>
          </a:prstGeom>
          <a:solidFill>
            <a:srgbClr val="FFFFFF"/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242550" y="2980690"/>
            <a:ext cx="1324610" cy="1638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85"/>
              </a:lnSpc>
              <a:buNone/>
            </a:pPr>
            <a:r>
              <a:rPr lang="en-US" sz="950" b="1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交付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42550" y="3143885"/>
            <a:ext cx="1324610" cy="154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90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【待填】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1765" y="4488805"/>
            <a:ext cx="11088725" cy="61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5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项目按六个阶段推进。前四个阶段聚焦技术验证与工程化：</a:t>
            </a:r>
            <a:r>
              <a:rPr lang="en-US" sz="1350" b="1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调研选型 → 界面原型 → LangGraph 工作流 → 防幻觉与质量保障</a:t>
            </a: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。当系统已能完整跑通 57 步赛制后，我们在</a:t>
            </a:r>
            <a:r>
              <a:rPr lang="en-US" sz="1350" b="1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中偏后期</a:t>
            </a: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组织辩论社交流，用真实用户反馈校准产品细节，再进入最终交付与测试完善。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400" y="6626225"/>
            <a:ext cx="60325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2188"/>
            <a:ext cx="113155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591800" y="122188"/>
            <a:ext cx="95864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第三幕 · 阶段一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5899282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阶段一 · 调研与原型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901601"/>
            <a:ext cx="5899282" cy="3656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选型、拆解赛制、第一个能跑的辩论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0350" y="1394222"/>
            <a:ext cx="5899282" cy="12203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5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初期工作以赛制文献调研和技术选型为主：后端 FastAPI（异步 + WebSocket）、前端 React 19 + Vite、编排层 LangGraph（状态图与回环）。第一版原型实现「创建房间 → AI 交替发言 → 显示历史」闭环，验证多角色交替发言可行性。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0350" y="2741563"/>
            <a:ext cx="5899282" cy="61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5"/>
              </a:lnSpc>
              <a:buNone/>
            </a:pP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同时也暴露了发言质量不稳、无来源引用泛滥、流程推进不可控等问题，为后续工作流改造指明方向。</a:t>
            </a:r>
            <a:r>
              <a:rPr lang="en-US" sz="1350" b="1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此阶段尚未开展辩论社深度访谈。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94069" y="873621"/>
            <a:ext cx="1743021" cy="193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20"/>
              </a:lnSpc>
              <a:buNone/>
            </a:pPr>
            <a:r>
              <a:rPr lang="en-US" sz="9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【截图 1：早期界面草图/原型】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858024" y="1168152"/>
            <a:ext cx="615113" cy="193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20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第一版布局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41168" y="2092672"/>
            <a:ext cx="1448824" cy="193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20"/>
              </a:lnSpc>
              <a:buNone/>
            </a:pPr>
            <a:r>
              <a:rPr lang="en-US" sz="9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【截图 2：首次跑通对辩】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73581" y="2387203"/>
            <a:ext cx="983998" cy="193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20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控制台或界面记录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400" y="6626225"/>
            <a:ext cx="746125" cy="76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2188"/>
            <a:ext cx="113155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591800" y="122188"/>
            <a:ext cx="95864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第三幕 · 阶段二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5899282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阶段二 · 工作流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901601"/>
            <a:ext cx="5899282" cy="3656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spcAft>
                <a:spcPts val="1000"/>
              </a:spcAft>
              <a:buNone/>
            </a:pPr>
            <a:r>
              <a:rPr lang="zh-CN" altLang="en-US" sz="24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使用</a:t>
            </a:r>
            <a:r>
              <a:rPr lang="en-US" sz="24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 LangGraph，让流程可见可控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0350" y="1394222"/>
            <a:ext cx="5899282" cy="12203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5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核心工作是将辩论逻辑重构为 LangGraph StateGraph：debate_graph.py 定义九节点链路，workflow_template() 声明 44 个业务节点，formal_4v4.yaml 配置 57 步赛制。系统从「能说话」升级为「按赛制说话」。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0350" y="2741563"/>
            <a:ext cx="5899282" cy="91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5"/>
              </a:lnSpc>
              <a:buNone/>
            </a:pPr>
            <a:r>
              <a:rPr lang="en-US" sz="135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WorkflowMindMap 通过 WebSocket 实时高亮当前节点，评委可直观看到 RAG 检索、策略规划、事实核查的执行过程——这一可观测性成为后续向辩论社同学生演示的重要卖点。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400" y="6626225"/>
            <a:ext cx="556260" cy="231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3225" y="401320"/>
            <a:ext cx="4267200" cy="36322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45" y="3642995"/>
            <a:ext cx="5478780" cy="291846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4020" y="4076700"/>
            <a:ext cx="1933575" cy="2457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2188"/>
            <a:ext cx="113155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591800" y="122188"/>
            <a:ext cx="95864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第三幕 · 阶段三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1108872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阶段三 · 工程化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901601"/>
            <a:ext cx="11088725" cy="396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Aft>
                <a:spcPts val="1400"/>
              </a:spcAft>
              <a:buNone/>
            </a:pPr>
            <a:r>
              <a:rPr lang="en-US" sz="26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从能跑到跑得稳</a:t>
            </a:r>
            <a:endParaRPr lang="en-US" sz="2600" dirty="0"/>
          </a:p>
        </p:txBody>
      </p:sp>
      <p:grpSp>
        <p:nvGrpSpPr>
          <p:cNvPr id="11" name="组合 10"/>
          <p:cNvGrpSpPr/>
          <p:nvPr/>
        </p:nvGrpSpPr>
        <p:grpSpPr>
          <a:xfrm>
            <a:off x="660400" y="1475740"/>
            <a:ext cx="11088370" cy="3838575"/>
            <a:chOff x="1040" y="2324"/>
            <a:chExt cx="17462" cy="2120"/>
          </a:xfrm>
        </p:grpSpPr>
        <p:sp>
          <p:nvSpPr>
            <p:cNvPr id="7" name="Text 5"/>
            <p:cNvSpPr/>
            <p:nvPr/>
          </p:nvSpPr>
          <p:spPr>
            <a:xfrm>
              <a:off x="1040" y="2324"/>
              <a:ext cx="17463" cy="96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5"/>
                </a:lnSpc>
                <a:spcAft>
                  <a:spcPts val="1000"/>
                </a:spcAft>
                <a:buNone/>
              </a:pPr>
              <a:r>
                <a:rPr lang="en-US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工作流跑通后，重心转向工程可靠性：引用校验（sanitize_citations）、启动恢复（recover_auto_runners）、管理后台（/admin）与 Prompt 运行时覆盖。后端 90+ pytest 用例覆盖引用校验、赛程元数据、API 集成与 WebSocket 推送；GitHub Actions 自动 CI。</a:t>
              </a:r>
              <a:endParaRPr lang="en-US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040" y="3484"/>
              <a:ext cx="17463" cy="96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5"/>
                </a:lnSpc>
                <a:buNone/>
              </a:pPr>
              <a:r>
                <a:rPr lang="en-US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跨端交付完成 Electron 打包、U 盘一键启动与局域网联机。</a:t>
              </a:r>
              <a:r>
                <a:rPr lang="en-US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系统达到可演示、可分发状态后，我们在此阶段末期组织辩论社交流</a:t>
              </a:r>
              <a:r>
                <a:rPr lang="en-US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——带着完整版本请辩手实测，而非仅有概念或原型。</a:t>
              </a:r>
              <a:endParaRPr lang="en-US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endParaRPr>
            </a:p>
          </p:txBody>
        </p:sp>
      </p:grpSp>
      <p:sp>
        <p:nvSpPr>
          <p:cNvPr id="9" name="Shape 7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400" y="6626225"/>
            <a:ext cx="74612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2188"/>
            <a:ext cx="113155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8719" y="122188"/>
            <a:ext cx="108418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第三幕 · 用户验证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1108872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中后期用户验证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892076"/>
            <a:ext cx="11088725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带着可运行版本，走进辩论社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60350" y="1247626"/>
            <a:ext cx="1108872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工程化阶段 · 对象【待填】· 时间【待填】· 形式【面对面/线上】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60350" y="1555552"/>
            <a:ext cx="5909370" cy="1268611"/>
          </a:xfrm>
          <a:prstGeom prst="roundRect">
            <a:avLst>
              <a:gd name="adj" fmla="val 16017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47576" y="1692027"/>
            <a:ext cx="5645616" cy="269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25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访谈引语（请填写 3 条）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7576" y="2038052"/>
            <a:ext cx="5645616" cy="649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5"/>
              </a:lnSpc>
              <a:buNone/>
            </a:pPr>
            <a:r>
              <a:rPr lang="en-US" sz="11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引语一：「【请填写】」</a:t>
            </a:r>
            <a:endParaRPr lang="en-US" sz="1100" dirty="0"/>
          </a:p>
          <a:p>
            <a:pPr marL="0" indent="0" algn="l">
              <a:lnSpc>
                <a:spcPts val="1705"/>
              </a:lnSpc>
              <a:buNone/>
            </a:pPr>
            <a:r>
              <a:rPr lang="en-US" sz="11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引语二：「【请填写】」</a:t>
            </a:r>
            <a:endParaRPr lang="en-US" sz="1100" dirty="0"/>
          </a:p>
          <a:p>
            <a:pPr marL="0" indent="0" algn="l">
              <a:lnSpc>
                <a:spcPts val="1705"/>
              </a:lnSpc>
              <a:buNone/>
            </a:pPr>
            <a:r>
              <a:rPr lang="en-US" sz="11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引语三：「【请填写】」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0350" y="2874913"/>
            <a:ext cx="5909370" cy="835521"/>
          </a:xfrm>
          <a:prstGeom prst="roundRect">
            <a:avLst>
              <a:gd name="adj" fmla="val 24320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47576" y="3011388"/>
            <a:ext cx="5645616" cy="269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25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交流纪要（200–400 字）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7576" y="3357414"/>
            <a:ext cx="5645616" cy="2165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5"/>
              </a:lnSpc>
              <a:buNone/>
            </a:pPr>
            <a:r>
              <a:rPr lang="en-US" sz="11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【赛制还原度、引用可信度、教练边界；现场演示中的问题与建议】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12635" y="1718221"/>
            <a:ext cx="1202900" cy="193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20"/>
              </a:lnSpc>
              <a:buNone/>
            </a:pPr>
            <a:r>
              <a:rPr lang="en-US" sz="9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【照片 2：同学试用】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68160" y="2012752"/>
            <a:ext cx="491999" cy="193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20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操作截图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158228" y="1718221"/>
            <a:ext cx="1202900" cy="193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20"/>
              </a:lnSpc>
              <a:buNone/>
            </a:pPr>
            <a:r>
              <a:rPr lang="en-US" sz="9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【照片 3：反馈记录】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489467" y="2012752"/>
            <a:ext cx="540273" cy="193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20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便签/问卷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400" y="6626225"/>
            <a:ext cx="1101090" cy="1073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  <p:pic>
        <p:nvPicPr>
          <p:cNvPr id="22" name="图片 21" descr="defaul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9265" y="2432685"/>
            <a:ext cx="3505200" cy="26282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6950"/>
            <a:ext cx="118893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535245" y="126950"/>
            <a:ext cx="101633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第三幕 · 需求校准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1108872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需求校准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901601"/>
            <a:ext cx="11088725" cy="3656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真实用户反馈，校准产品细节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0350" y="1394222"/>
            <a:ext cx="355550" cy="355550"/>
          </a:xfrm>
          <a:prstGeom prst="roundRect">
            <a:avLst>
              <a:gd name="adj" fmla="val 28576"/>
            </a:avLst>
          </a:prstGeom>
          <a:solidFill>
            <a:srgbClr val="D97757">
              <a:alpha val="10000"/>
            </a:srgbClr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2603788"/>
            <a:ext cx="355550" cy="355550"/>
          </a:xfrm>
          <a:prstGeom prst="roundRect">
            <a:avLst>
              <a:gd name="adj" fmla="val 28576"/>
            </a:avLst>
          </a:prstGeom>
          <a:solidFill>
            <a:srgbClr val="D97757">
              <a:alpha val="10000"/>
            </a:srgbClr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0350" y="3512374"/>
            <a:ext cx="355550" cy="355550"/>
          </a:xfrm>
          <a:prstGeom prst="roundRect">
            <a:avLst>
              <a:gd name="adj" fmla="val 28576"/>
            </a:avLst>
          </a:prstGeom>
          <a:solidFill>
            <a:srgbClr val="D97757">
              <a:alpha val="10000"/>
            </a:srgbClr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1168400" y="1394460"/>
            <a:ext cx="10580370" cy="2607310"/>
            <a:chOff x="1840" y="2196"/>
            <a:chExt cx="16646" cy="2299"/>
          </a:xfrm>
        </p:grpSpPr>
        <p:sp>
          <p:nvSpPr>
            <p:cNvPr id="8" name="Text 6"/>
            <p:cNvSpPr/>
            <p:nvPr/>
          </p:nvSpPr>
          <p:spPr>
            <a:xfrm>
              <a:off x="1840" y="2196"/>
              <a:ext cx="16647" cy="89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35"/>
                </a:lnSpc>
                <a:buNone/>
              </a:pPr>
              <a:r>
                <a:rPr lang="en-US" sz="1600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发现一：【</a:t>
              </a:r>
              <a:r>
                <a:rPr lang="zh-CN" altLang="en-US" sz="1600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环节时间控制不准确</a:t>
              </a:r>
              <a:r>
                <a:rPr lang="en-US" sz="1600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】</a:t>
              </a:r>
              <a:r>
                <a:rPr lang="en-US" sz="160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 — 【正式辩论赛的环节节奏感极强，通用 AI 对话无法模拟立论、质询、自由辩的阶段性任务切换。】</a:t>
              </a:r>
              <a:endParaRPr lang="en-US" sz="160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840" y="3289"/>
              <a:ext cx="13966" cy="44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35"/>
                </a:lnSpc>
                <a:buNone/>
              </a:pPr>
              <a:r>
                <a:rPr lang="en-US" sz="1600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发现二：【AI</a:t>
              </a:r>
              <a:r>
                <a:rPr lang="zh-CN" altLang="en-US" sz="1600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引用材料真实性存疑</a:t>
              </a:r>
              <a:r>
                <a:rPr lang="en-US" sz="1600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】</a:t>
              </a:r>
              <a:r>
                <a:rPr lang="en-US" sz="160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 — 【辩手最关心论据是否可溯源，编造数据和虚假引用会严重损害训练价值。】</a:t>
              </a:r>
              <a:endParaRPr lang="en-US" sz="160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840" y="4049"/>
              <a:ext cx="13327" cy="44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35"/>
                </a:lnSpc>
                <a:buNone/>
              </a:pPr>
              <a:r>
                <a:rPr lang="en-US" sz="1600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发现三：【待填标题】</a:t>
              </a:r>
              <a:r>
                <a:rPr lang="en-US" sz="1600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 — 【请描述，例如：备赛时需要看到 AI 队内策略讨论，但正式赛场只应展示公开发言。】</a:t>
              </a:r>
              <a:endParaRPr lang="en-US" sz="1600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74675" y="4676775"/>
            <a:ext cx="10893425" cy="835660"/>
            <a:chOff x="1040" y="4809"/>
            <a:chExt cx="17155" cy="1316"/>
          </a:xfrm>
        </p:grpSpPr>
        <p:sp>
          <p:nvSpPr>
            <p:cNvPr id="13" name="Text 11"/>
            <p:cNvSpPr/>
            <p:nvPr/>
          </p:nvSpPr>
          <p:spPr>
            <a:xfrm>
              <a:off x="1040" y="4809"/>
              <a:ext cx="17120" cy="1316"/>
            </a:xfrm>
            <a:prstGeom prst="roundRect">
              <a:avLst>
                <a:gd name="adj" fmla="val 24320"/>
              </a:avLst>
            </a:prstGeom>
            <a:solidFill>
              <a:srgbClr val="FFFFFF">
                <a:alpha val="65000"/>
              </a:srgbClr>
            </a:solidFill>
            <a:ln w="9525">
              <a:solidFill>
                <a:srgbClr val="D97757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335" y="5024"/>
              <a:ext cx="16861" cy="425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25"/>
                </a:lnSpc>
                <a:spcAft>
                  <a:spcPts val="600"/>
                </a:spcAft>
                <a:buNone/>
              </a:pPr>
              <a:r>
                <a:rPr lang="en-US" sz="1250" b="1" dirty="0">
                  <a:solidFill>
                    <a:srgbClr val="6B6B67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综合结论（请填写 60–120 字）</a:t>
              </a:r>
              <a:endParaRPr lang="en-US" sz="12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335" y="5569"/>
              <a:ext cx="16861" cy="34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705"/>
                </a:lnSpc>
                <a:buNone/>
              </a:pPr>
              <a:r>
                <a:rPr lang="en-US" sz="1100" dirty="0">
                  <a:solidFill>
                    <a:srgbClr val="6B6B67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【例如：访谈验证了我们「赛制还原 + 论据可验证」的大方向正确，同时推动我们在教练边界、视角切换、演示节奏三处做了针对性改进。】</a:t>
              </a:r>
              <a:endParaRPr lang="en-US" sz="1100" dirty="0"/>
            </a:p>
          </p:txBody>
        </p:sp>
      </p:grpSp>
      <p:sp>
        <p:nvSpPr>
          <p:cNvPr id="16" name="Shape 14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400" y="6631305"/>
            <a:ext cx="516255" cy="151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2188"/>
            <a:ext cx="113155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8719" y="122188"/>
            <a:ext cx="108418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第三幕 · 技术难点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1108872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技术难点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901601"/>
            <a:ext cx="11088725" cy="396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Aft>
                <a:spcPts val="1400"/>
              </a:spcAft>
              <a:buNone/>
            </a:pPr>
            <a:r>
              <a:rPr lang="en-US" sz="26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三个踩过的坑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60350" y="1475482"/>
            <a:ext cx="355550" cy="355550"/>
          </a:xfrm>
          <a:prstGeom prst="roundRect">
            <a:avLst>
              <a:gd name="adj" fmla="val 28576"/>
            </a:avLst>
          </a:prstGeom>
          <a:solidFill>
            <a:srgbClr val="D97757">
              <a:alpha val="10000"/>
            </a:srgbClr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2777133"/>
            <a:ext cx="355550" cy="355550"/>
          </a:xfrm>
          <a:prstGeom prst="roundRect">
            <a:avLst>
              <a:gd name="adj" fmla="val 28576"/>
            </a:avLst>
          </a:prstGeom>
          <a:solidFill>
            <a:srgbClr val="D97757">
              <a:alpha val="10000"/>
            </a:srgbClr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0350" y="4051479"/>
            <a:ext cx="355550" cy="355550"/>
          </a:xfrm>
          <a:prstGeom prst="roundRect">
            <a:avLst>
              <a:gd name="adj" fmla="val 28576"/>
            </a:avLst>
          </a:prstGeom>
          <a:solidFill>
            <a:srgbClr val="D97757">
              <a:alpha val="10000"/>
            </a:srgbClr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15" name="组合 14"/>
          <p:cNvGrpSpPr/>
          <p:nvPr/>
        </p:nvGrpSpPr>
        <p:grpSpPr>
          <a:xfrm>
            <a:off x="1168400" y="1475740"/>
            <a:ext cx="9806305" cy="3374390"/>
            <a:chOff x="1840" y="2324"/>
            <a:chExt cx="15384" cy="1965"/>
          </a:xfrm>
        </p:grpSpPr>
        <p:sp>
          <p:nvSpPr>
            <p:cNvPr id="8" name="Text 6"/>
            <p:cNvSpPr/>
            <p:nvPr/>
          </p:nvSpPr>
          <p:spPr>
            <a:xfrm>
              <a:off x="1840" y="2324"/>
              <a:ext cx="15384" cy="44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35"/>
                </a:lnSpc>
                <a:buNone/>
              </a:pPr>
              <a:r>
                <a:rPr lang="en-US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模型响应速度不一致</a:t>
              </a:r>
              <a:r>
                <a:rPr lang="en-US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 — 分环节模型路由（closing 用 Pro，其余 Flash），裁判程序性环节启用快路径，将单步等待降至可接受范围。</a:t>
              </a:r>
              <a:endParaRPr lang="en-US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840" y="3083"/>
              <a:ext cx="12214" cy="44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35"/>
                </a:lnSpc>
                <a:buNone/>
              </a:pPr>
              <a:r>
                <a:rPr lang="en-US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弱网环境消息同步</a:t>
              </a:r>
              <a:r>
                <a:rPr lang="en-US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 — Redis PubSub 广播 + WebSocket 断线重连拉取 snapshot；前端本地缓存发言流。</a:t>
              </a:r>
              <a:endParaRPr lang="en-US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840" y="3843"/>
              <a:ext cx="13681" cy="44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35"/>
                </a:lnSpc>
                <a:buNone/>
              </a:pPr>
              <a:r>
                <a:rPr lang="en-US" b="1" dirty="0">
                  <a:solidFill>
                    <a:srgbClr val="141413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幻觉无法 100% 消除</a:t>
              </a:r>
              <a:r>
                <a:rPr lang="en-US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 — 采用「检测 + 回环重写 + 评分惩罚」三层策略，重写上限两次，裁判评分单独扣幻觉风险分。</a:t>
              </a:r>
              <a:endParaRPr lang="en-US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endParaRPr>
            </a:p>
          </p:txBody>
        </p:sp>
      </p:grpSp>
      <p:sp>
        <p:nvSpPr>
          <p:cNvPr id="13" name="Shape 11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400" y="6626225"/>
            <a:ext cx="793750" cy="1530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6950"/>
            <a:ext cx="118893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535245" y="126950"/>
            <a:ext cx="101633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第三幕 · 测试部署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5899282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测试与部署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901601"/>
            <a:ext cx="5899282" cy="3656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评委也可以一键验证</a:t>
            </a:r>
            <a:endParaRPr lang="en-US" sz="2400" dirty="0"/>
          </a:p>
        </p:txBody>
      </p:sp>
      <p:grpSp>
        <p:nvGrpSpPr>
          <p:cNvPr id="15" name="组合 14"/>
          <p:cNvGrpSpPr/>
          <p:nvPr/>
        </p:nvGrpSpPr>
        <p:grpSpPr>
          <a:xfrm>
            <a:off x="660400" y="1394460"/>
            <a:ext cx="6784340" cy="4018280"/>
            <a:chOff x="1040" y="2196"/>
            <a:chExt cx="9290" cy="3081"/>
          </a:xfrm>
        </p:grpSpPr>
        <p:sp>
          <p:nvSpPr>
            <p:cNvPr id="7" name="Text 5"/>
            <p:cNvSpPr/>
            <p:nvPr/>
          </p:nvSpPr>
          <p:spPr>
            <a:xfrm>
              <a:off x="1040" y="2196"/>
              <a:ext cx="9290" cy="144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5"/>
                </a:lnSpc>
                <a:spcAft>
                  <a:spcPts val="1000"/>
                </a:spcAft>
                <a:buNone/>
              </a:pPr>
              <a:r>
                <a:rPr lang="en-US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复制 .env.example 填写 DEEPSEEK_API_KEY，双击AI辩论项目\应用程序\启动 AI辩论.bat 启动。无需 MongoDB/Redis 即可运行（自动内存模式）。</a:t>
              </a:r>
              <a:endParaRPr lang="en-US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040" y="3837"/>
              <a:ext cx="9290" cy="144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5"/>
                </a:lnSpc>
                <a:buNone/>
              </a:pPr>
              <a:r>
                <a:rPr lang="en-US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cd backend &amp;&amp; pytest tests -q 执行自动化测试；test-e2e.bat 提供 Playwright 端到端测试。/health 返回存储与 TTS/ASR 状态，/admin 提供房间诊断。</a:t>
              </a:r>
              <a:endParaRPr lang="en-US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endParaRPr>
            </a:p>
          </p:txBody>
        </p:sp>
      </p:grpSp>
      <p:sp>
        <p:nvSpPr>
          <p:cNvPr id="9" name="Text 7"/>
          <p:cNvSpPr/>
          <p:nvPr/>
        </p:nvSpPr>
        <p:spPr>
          <a:xfrm>
            <a:off x="8452402" y="873621"/>
            <a:ext cx="1426357" cy="193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20"/>
              </a:lnSpc>
              <a:buNone/>
            </a:pPr>
            <a:r>
              <a:rPr lang="en-US" sz="9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【截图 1：/health 状态】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796543" y="1168152"/>
            <a:ext cx="738074" cy="193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20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健康检查返回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557754" y="2092672"/>
            <a:ext cx="1215652" cy="193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20"/>
              </a:lnSpc>
              <a:buNone/>
            </a:pPr>
            <a:r>
              <a:rPr lang="en-US" sz="9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【截图 2：管理后台】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735062" y="2387203"/>
            <a:ext cx="861036" cy="193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20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房间列表与诊断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400" y="6631305"/>
            <a:ext cx="118745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6950"/>
            <a:ext cx="118893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535245" y="126950"/>
            <a:ext cx="101633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第四幕 · 访谈改进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110887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访谈驱动改进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863501"/>
            <a:ext cx="11088725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同学的话，变成了系统的功能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60350" y="1269802"/>
            <a:ext cx="5909370" cy="1052066"/>
          </a:xfrm>
          <a:prstGeom prst="roundRect">
            <a:avLst>
              <a:gd name="adj" fmla="val 19314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7576" y="1406277"/>
            <a:ext cx="5645616" cy="269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25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改进一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7576" y="1752302"/>
            <a:ext cx="5645616" cy="4330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5"/>
              </a:lnSpc>
              <a:buNone/>
            </a:pPr>
            <a:r>
              <a:rPr lang="en-US" sz="11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原话：「【访谈原话·请填写】」</a:t>
            </a:r>
            <a:endParaRPr lang="en-US" sz="1100" dirty="0"/>
          </a:p>
          <a:p>
            <a:pPr marL="0" indent="0" algn="l">
              <a:lnSpc>
                <a:spcPts val="1705"/>
              </a:lnSpc>
              <a:buNone/>
            </a:pPr>
            <a:r>
              <a:rPr lang="en-US" sz="11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对应改进：【请描述】 · 状态：【已落地/进行中】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0350" y="2372618"/>
            <a:ext cx="5909370" cy="1052066"/>
          </a:xfrm>
          <a:prstGeom prst="roundRect">
            <a:avLst>
              <a:gd name="adj" fmla="val 19314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47576" y="2509093"/>
            <a:ext cx="5645616" cy="269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25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改进二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7576" y="2855119"/>
            <a:ext cx="5645616" cy="4330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5"/>
              </a:lnSpc>
              <a:buNone/>
            </a:pPr>
            <a:r>
              <a:rPr lang="en-US" sz="11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原话：「【访谈原话·请填写】」</a:t>
            </a:r>
            <a:endParaRPr lang="en-US" sz="1100" dirty="0"/>
          </a:p>
          <a:p>
            <a:pPr marL="0" indent="0" algn="l">
              <a:lnSpc>
                <a:spcPts val="1705"/>
              </a:lnSpc>
              <a:buNone/>
            </a:pPr>
            <a:r>
              <a:rPr lang="en-US" sz="11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对应改进：【请描述】 · 状态：【已落地/进行中】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0350" y="3475434"/>
            <a:ext cx="5909370" cy="1052066"/>
          </a:xfrm>
          <a:prstGeom prst="roundRect">
            <a:avLst>
              <a:gd name="adj" fmla="val 19314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D977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47576" y="3611910"/>
            <a:ext cx="5645616" cy="269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25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改进三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7576" y="3957935"/>
            <a:ext cx="5645616" cy="4330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5"/>
              </a:lnSpc>
              <a:buNone/>
            </a:pPr>
            <a:r>
              <a:rPr lang="en-US" sz="11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原话：「【访谈原话·请填写】」</a:t>
            </a:r>
            <a:endParaRPr lang="en-US" sz="1100" dirty="0"/>
          </a:p>
          <a:p>
            <a:pPr marL="0" indent="0" algn="l">
              <a:lnSpc>
                <a:spcPts val="1705"/>
              </a:lnSpc>
              <a:buNone/>
            </a:pPr>
            <a:r>
              <a:rPr lang="en-US" sz="11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对应改进：【请描述】 · 状态：【已落地/进行中】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8516" y="1533971"/>
            <a:ext cx="1391138" cy="193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20"/>
              </a:lnSpc>
              <a:buNone/>
            </a:pPr>
            <a:r>
              <a:rPr lang="en-US" sz="9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【对比图 1：改进前/后】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06529" y="1828502"/>
            <a:ext cx="615113" cy="193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20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功能或界面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418516" y="2753023"/>
            <a:ext cx="1391138" cy="193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20"/>
              </a:lnSpc>
              <a:buNone/>
            </a:pPr>
            <a:r>
              <a:rPr lang="en-US" sz="9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【对比图 2：改进前/后】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991122" y="3047554"/>
            <a:ext cx="246075" cy="193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20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可选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400" y="6631305"/>
            <a:ext cx="1061085" cy="174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6950"/>
            <a:ext cx="118893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781258" y="126950"/>
            <a:ext cx="76539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第四幕 · 成果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558701"/>
            <a:ext cx="1108872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50" dirty="0">
                <a:solidFill>
                  <a:srgbClr val="D9775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成果总览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0350" y="901601"/>
            <a:ext cx="11088725" cy="396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Aft>
                <a:spcPts val="1400"/>
              </a:spcAft>
              <a:buNone/>
            </a:pPr>
            <a:r>
              <a:rPr lang="en-US" sz="2600" dirty="0">
                <a:solidFill>
                  <a:srgbClr val="141413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我们交付了什么</a:t>
            </a:r>
            <a:endParaRPr lang="en-US" sz="2600" dirty="0"/>
          </a:p>
        </p:txBody>
      </p:sp>
      <p:grpSp>
        <p:nvGrpSpPr>
          <p:cNvPr id="13" name="组合 12"/>
          <p:cNvGrpSpPr/>
          <p:nvPr/>
        </p:nvGrpSpPr>
        <p:grpSpPr>
          <a:xfrm>
            <a:off x="660400" y="1475740"/>
            <a:ext cx="11088370" cy="4410075"/>
            <a:chOff x="1040" y="2324"/>
            <a:chExt cx="17462" cy="3392"/>
          </a:xfrm>
        </p:grpSpPr>
        <p:sp>
          <p:nvSpPr>
            <p:cNvPr id="7" name="Text 5"/>
            <p:cNvSpPr/>
            <p:nvPr/>
          </p:nvSpPr>
          <p:spPr>
            <a:xfrm>
              <a:off x="1040" y="2324"/>
              <a:ext cx="17463" cy="96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5"/>
                </a:lnSpc>
                <a:spcAft>
                  <a:spcPts val="1000"/>
                </a:spcAft>
                <a:buNone/>
              </a:pPr>
              <a:r>
                <a:rPr lang="en-US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AI辩论场是一套可运行、可测试、可分发、可观测的多智能体辩论系统。LangGraph 驱动 44 个业务节点，每轮发言经九步执行链路；前端三栏界面 + 实时工作流脑图；赛制引擎支持 57 步标准 4v4 与快速演示模式。</a:t>
              </a:r>
              <a:endParaRPr lang="en-US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040" y="3484"/>
              <a:ext cx="17463" cy="96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5"/>
                </a:lnSpc>
                <a:spcAft>
                  <a:spcPts val="1000"/>
                </a:spcAft>
                <a:buNone/>
              </a:pPr>
              <a:r>
                <a:rPr lang="en-US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防幻觉体系贯穿 RAG、引用绑定、事实核查与评分惩罚。中后期辩论社交流推动了教练边界、视角切换等关键迭代。系统已通过 90+ 自动化测试，支持 Web、Electron、U 盘便携三种交付形态。</a:t>
              </a:r>
              <a:endParaRPr lang="en-US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040" y="4645"/>
              <a:ext cx="17463" cy="445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25"/>
                </a:lnSpc>
                <a:spcAft>
                  <a:spcPts val="1000"/>
                </a:spcAft>
                <a:buNone/>
              </a:pPr>
              <a:r>
                <a:rPr lang="en-US" dirty="0">
                  <a:solidFill>
                    <a:srgbClr val="3D3D3A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仍待完善：多厂商模型异构对抗、语音实时辩论模式、更大规模用户测试与回访记录积累。我们希望继续听取辩论社反馈，让系统真正服务于思辨训练。</a:t>
              </a:r>
              <a:endParaRPr lang="en-US" dirty="0">
                <a:solidFill>
                  <a:srgbClr val="3D3D3A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040" y="5290"/>
              <a:ext cx="17463" cy="42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35"/>
                </a:lnSpc>
                <a:spcBef>
                  <a:spcPts val="800"/>
                </a:spcBef>
                <a:buNone/>
              </a:pPr>
              <a:r>
                <a:rPr lang="en-US" sz="1200" dirty="0">
                  <a:solidFill>
                    <a:srgbClr val="6B6B67"/>
                  </a:solidFill>
                  <a:latin typeface="方正大标宋_GBK" panose="03000509000000000000" charset="-122"/>
                  <a:ea typeface="方正大标宋_GBK" panose="03000509000000000000" charset="-122"/>
                  <a:cs typeface="方正大标宋_GBK" panose="03000509000000000000" charset="-122"/>
                </a:rPr>
                <a:t>44 个工作流节点 · 57 步标准赛制 · 9 个具名智能体 · 90+ 自动化测试 · 3 种部署形态</a:t>
              </a:r>
              <a:endParaRPr lang="en-US" sz="1200" dirty="0"/>
            </a:p>
          </p:txBody>
        </p:sp>
      </p:grpSp>
      <p:sp>
        <p:nvSpPr>
          <p:cNvPr id="11" name="Shape 9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1414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400" y="6631305"/>
            <a:ext cx="889635" cy="76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7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9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126950"/>
            <a:ext cx="118893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5F3EF">
                    <a:alpha val="45000"/>
                  </a:srgbClr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 DEBATE ARENA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39475" y="126950"/>
            <a:ext cx="50201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5F3EF">
                    <a:alpha val="45000"/>
                  </a:srgbClr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项目报告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0350" y="2140148"/>
            <a:ext cx="11088725" cy="548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20"/>
              </a:lnSpc>
              <a:spcAft>
                <a:spcPts val="2000"/>
              </a:spcAft>
              <a:buNone/>
            </a:pPr>
            <a:r>
              <a:rPr lang="en-US" sz="3600" dirty="0">
                <a:solidFill>
                  <a:srgbClr val="F5F3EF"/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60350" y="2942630"/>
            <a:ext cx="6217920" cy="333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25"/>
              </a:lnSpc>
              <a:buNone/>
            </a:pPr>
            <a:r>
              <a:rPr lang="en-US" sz="1500" dirty="0">
                <a:solidFill>
                  <a:srgbClr val="F5F3EF">
                    <a:alpha val="65000"/>
                  </a:srgbClr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让思辨可被看见，论据可被验证，过程可被复盘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0350" y="3631555"/>
            <a:ext cx="609600" cy="19050"/>
          </a:xfrm>
          <a:prstGeom prst="rect">
            <a:avLst/>
          </a:prstGeom>
          <a:solidFill>
            <a:srgbClr val="D9775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4006155"/>
            <a:ext cx="11088725" cy="838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400" y="6631305"/>
            <a:ext cx="709295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5F3EF">
                    <a:alpha val="35000"/>
                  </a:srgbClr>
                </a:solidFill>
                <a:latin typeface="方正大标宋_GBK" panose="03000509000000000000" charset="-122"/>
                <a:ea typeface="方正大标宋_GBK" panose="03000509000000000000" charset="-122"/>
                <a:cs typeface="方正大标宋_GBK" panose="03000509000000000000" charset="-122"/>
              </a:rPr>
              <a:t>AI辩论场</a:t>
            </a:r>
            <a:endParaRPr lang="en-US" sz="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2Y1ZGYyMTlkMGFmMGU0NjJlNjY5NWVkNjFjYTM3MDk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5686</Words>
  <Application>WPS 演示</Application>
  <PresentationFormat>On-screen Show (16:9)</PresentationFormat>
  <Paragraphs>512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Arial</vt:lpstr>
      <vt:lpstr>宋体</vt:lpstr>
      <vt:lpstr>Wingdings</vt:lpstr>
      <vt:lpstr>方正大标宋_GBK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AI辩论场 · AI智能体开发专项赛项目报告</dc:title>
  <dc:creator>AI辩论场</dc:creator>
  <dc:subject>多智能体工作流辩论系统</dc:subject>
  <cp:lastModifiedBy>student</cp:lastModifiedBy>
  <cp:revision>13</cp:revision>
  <dcterms:created xsi:type="dcterms:W3CDTF">2026-06-13T13:57:00Z</dcterms:created>
  <dcterms:modified xsi:type="dcterms:W3CDTF">2026-06-17T10:53:09Z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06E2D5F1FAD84D55B9B78C989910CB32</vt:lpwstr>
  </property>
  <property fmtid="{D5CDD505-2E9C-101B-9397-08002B2CF9AE}" pid="3" name="KSOProductBuildVer">
    <vt:lpwstr>2052-11.1.0.12159</vt:lpwstr>
  </property>
</Properties>
</file>